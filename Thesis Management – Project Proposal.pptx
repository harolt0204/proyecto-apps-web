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This proposal continues a database project from a previous course: we keep its database as the starting point, correct it, and build a production-ready web application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process we have to support. Each step depends on the previous ones. The defense can only be scheduled when the committee is complete, the similarity check is accepted and all administrative requirements are certified. Several of those requirements come from the CES Reglamento de Régimen Académico, so the university must also be able to prove they were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Staff consolidate information from four disconnected sources by hand. A single missed step, for example a missing clearance, can postpone a graduation by a whole academic period, and there is no audit trail to find out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reviewed everything the previous course left: documents, diagrams, the Power Architect model and the code. The schema exists in four versions that disagree with each other. In the one that actually runs, key rules are not enforced. So the problem is twofold: the institution needs a centralized system, and that system needs a sound data foundation. Our decision: keep the inherited database as the starting point and correct it through versioned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general objective. The key words are “secure”, “role-based”, “centralizes” and “deploy”: the goal is a product in production, not a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objectives are about correctness: data, security and workflow rules. The last three are about traceability, usability and putting the system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Relevance: errors here are costly and the regulation requires evidence. Usefulness: one shared source of truth, with rules enforced by the system rather than by human discipline. Academic value: the whole life cycle with a real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concepts in section 5.1 of the paper: Codd’s relational model, Fielding’s REST, RBAC by Sandhu et al. and the NIST model, RFC 7519 for JWT, OWASP API Security Top 10, plus the official FastAPI, SQLAlchemy, Alembic and MySQL documentation. Rules that span several rows, like “at most three reviewers”, need a trigger plus validation in the service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corrects the inherited requirements, which listed “tutor” and “reviewer” as user roles. In practice the same professor is a tutor in one thesis and a reviewer in another, so those permissions must come from the assignment tables. This is also our main defense against the first risk in the OWASP API Security Top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 reviewed: a workflow-engine thesis MIS (Li et al., Physics Procedia 2012); topic selection and guidance (Zhi, IEEE ICISE-IE 2021); an LMS for the master’s thesis process (Shakerian et al., 2021); an Ecuadorian titulación system built with Scrum at Universidad Técnica de Cotopaxi (Silva-Peñafiel et al., 2021); ThesisIT, with automatic defense scheduling (Chio et al., 2022); a monitoring-system design (Hariyanto et al., 2025); and TUM’s open-source Thesis Management platform. The table only reflects what each source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contribution in one slide. The Ecuadorian context, defined by the CES Reglamento de Régimen Académico, adds requirements that generic thesis-management tools do not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Scrum (Schwaber and Sutherland, 2020), which has worked well in student capstone projects (Mahnič, 2012) and was also used by the closest Ecuadorian precedent. Each sprint ends with a deployed increment reviewed with the client, and the feedback goes back into the backlog. Phase 0 settles the rules we still need from the client: the official requirement list, documents, the thesis status flow, and how the final grade is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increment includes its API endpoints, its user interface and its tests, so every sprint ends with something usable. Features that depend on pending client decisions, such as documents and the exact status flow, are scheduled after Phase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plan: validate with the client, freeze the data model, and start Sprint 0. Then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201"/>
            <a:ext cx="10566400" cy="41909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Georgia" pitchFamily="34" charset="0"/>
                <a:ea typeface="Georgia" pitchFamily="34" charset="-122"/>
                <a:cs typeface="Georgia"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201"/>
            <a:ext cx="10566400" cy="41909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0A060"/>
                </a:solidFill>
                <a:latin typeface="Arial" pitchFamily="34" charset="0"/>
                <a:ea typeface="Arial" pitchFamily="34" charset="-122"/>
                <a:cs typeface="Arial" pitchFamily="34" charset="-120"/>
              </a:rPr>
              <a:t>PROJECT PROPOSAL · WEB APPLICATIONS</a:t>
            </a:r>
            <a:endParaRPr lang="en-US" sz="1400" dirty="0"/>
          </a:p>
        </p:txBody>
      </p:sp>
      <p:sp>
        <p:nvSpPr>
          <p:cNvPr id="3" name="Text 1"/>
          <p:cNvSpPr/>
          <p:nvPr>
            <p:ph type="title"/>
          </p:nvPr>
        </p:nvSpPr>
        <p:spPr>
          <a:xfrm>
            <a:off x="812800" y="2357120"/>
            <a:ext cx="10883392" cy="878840"/>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F7F6F2"/>
                </a:solidFill>
                <a:latin typeface="Georgia" pitchFamily="18" charset="0"/>
                <a:ea typeface="Georgia" pitchFamily="18" charset="-122"/>
                <a:cs typeface="Georgia" pitchFamily="18" charset="-120"/>
              </a:rPr>
              <a:t>Thesis Management</a:t>
            </a:r>
            <a:endParaRPr lang="en-US" sz="6400" dirty="0"/>
          </a:p>
        </p:txBody>
      </p:sp>
      <p:sp>
        <p:nvSpPr>
          <p:cNvPr id="4" name="Text 2"/>
          <p:cNvSpPr/>
          <p:nvPr/>
        </p:nvSpPr>
        <p:spPr>
          <a:xfrm>
            <a:off x="812800" y="3439160"/>
            <a:ext cx="915670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CBDD"/>
                </a:solidFill>
                <a:latin typeface="Arial" pitchFamily="34" charset="0"/>
                <a:ea typeface="Arial" pitchFamily="34" charset="-122"/>
                <a:cs typeface="Arial" pitchFamily="34" charset="-120"/>
              </a:rPr>
              <a:t>A role-based web platform for the end-to-end management of the undergraduate thesis and graduation process</a:t>
            </a:r>
            <a:endParaRPr lang="en-US" sz="2200" dirty="0"/>
          </a:p>
        </p:txBody>
      </p:sp>
      <p:sp>
        <p:nvSpPr>
          <p:cNvPr id="5" name="Text 3"/>
          <p:cNvSpPr/>
          <p:nvPr/>
        </p:nvSpPr>
        <p:spPr>
          <a:xfrm>
            <a:off x="812800" y="54610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Arial" pitchFamily="34" charset="0"/>
                <a:ea typeface="Arial" pitchFamily="34" charset="-122"/>
                <a:cs typeface="Arial" pitchFamily="34" charset="-120"/>
              </a:rPr>
              <a:t>Fernando Chantera, Harolt Farinango, Mateo Pilaquinga</a:t>
            </a:r>
            <a:endParaRPr lang="en-US" sz="1600" dirty="0"/>
          </a:p>
        </p:txBody>
      </p:sp>
      <p:sp>
        <p:nvSpPr>
          <p:cNvPr id="6" name="Text 4"/>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D"/>
                </a:solidFill>
                <a:latin typeface="Arial" pitchFamily="34" charset="0"/>
                <a:ea typeface="Arial" pitchFamily="34" charset="-122"/>
                <a:cs typeface="Arial" pitchFamily="34" charset="-120"/>
              </a:rPr>
              <a:t>School of Mathematical and Computational Sciences · Yachay Tech University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27965"/>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B04E16"/>
                </a:solidFill>
                <a:latin typeface="Arial" pitchFamily="34" charset="0"/>
                <a:ea typeface="Arial" pitchFamily="34" charset="-122"/>
                <a:cs typeface="Arial" pitchFamily="34" charset="-120"/>
              </a:rPr>
              <a:t>CONTEXT</a:t>
            </a:r>
            <a:endParaRPr lang="en-US" sz="1159" dirty="0"/>
          </a:p>
        </p:txBody>
      </p:sp>
      <p:sp>
        <p:nvSpPr>
          <p:cNvPr id="3" name="Text 1"/>
          <p:cNvSpPr/>
          <p:nvPr>
            <p:ph type="title"/>
          </p:nvPr>
        </p:nvSpPr>
        <p:spPr>
          <a:xfrm>
            <a:off x="812800" y="1091565"/>
            <a:ext cx="10883392" cy="874236"/>
          </a:xfrm>
          <a:prstGeom prst="rect">
            <a:avLst/>
          </a:prstGeom>
          <a:noFill/>
          <a:ln/>
        </p:spPr>
        <p:txBody>
          <a:bodyPr wrap="square" lIns="0" tIns="0" rIns="0" bIns="0" rtlCol="0" anchor="t">
            <a:normAutofit/>
          </a:bodyPr>
          <a:lstStyle/>
          <a:p>
            <a:pPr algn="l" indent="0" marL="0">
              <a:lnSpc>
                <a:spcPts val="3355"/>
              </a:lnSpc>
              <a:buNone/>
            </a:pPr>
            <a:r>
              <a:rPr lang="en-US" sz="3050" b="1" i="0" dirty="0">
                <a:solidFill>
                  <a:srgbClr val="14213D"/>
                </a:solidFill>
                <a:latin typeface="Georgia" pitchFamily="18" charset="0"/>
                <a:ea typeface="Georgia" pitchFamily="18" charset="-122"/>
                <a:cs typeface="Georgia" pitchFamily="18" charset="-120"/>
              </a:rPr>
              <a:t>Graduating takes nine dependent steps and many people</a:t>
            </a:r>
            <a:endParaRPr lang="en-US" sz="3050" dirty="0"/>
          </a:p>
        </p:txBody>
      </p:sp>
      <p:sp>
        <p:nvSpPr>
          <p:cNvPr id="4" name="Shape 2"/>
          <p:cNvSpPr/>
          <p:nvPr/>
        </p:nvSpPr>
        <p:spPr>
          <a:xfrm>
            <a:off x="815975" y="2197577"/>
            <a:ext cx="3431064" cy="782320"/>
          </a:xfrm>
          <a:prstGeom prst="roundRect">
            <a:avLst>
              <a:gd name="adj" fmla="val 9334"/>
            </a:avLst>
          </a:prstGeom>
          <a:solidFill>
            <a:srgbClr val="FFFFFF"/>
          </a:solidFill>
          <a:ln w="6350">
            <a:solidFill>
              <a:srgbClr val="D9DEE6"/>
            </a:solidFill>
            <a:prstDash val="solid"/>
          </a:ln>
        </p:spPr>
      </p:sp>
      <p:sp>
        <p:nvSpPr>
          <p:cNvPr id="5" name="Text 3"/>
          <p:cNvSpPr/>
          <p:nvPr/>
        </p:nvSpPr>
        <p:spPr>
          <a:xfrm>
            <a:off x="995680" y="2351881"/>
            <a:ext cx="316380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04E16"/>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995680" y="2603341"/>
            <a:ext cx="316380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Topic registration and approval</a:t>
            </a:r>
            <a:endParaRPr lang="en-US" sz="1400" dirty="0"/>
          </a:p>
        </p:txBody>
      </p:sp>
      <p:sp>
        <p:nvSpPr>
          <p:cNvPr id="7" name="Shape 5"/>
          <p:cNvSpPr/>
          <p:nvPr/>
        </p:nvSpPr>
        <p:spPr>
          <a:xfrm>
            <a:off x="4380389" y="2197577"/>
            <a:ext cx="3431143" cy="782320"/>
          </a:xfrm>
          <a:prstGeom prst="roundRect">
            <a:avLst>
              <a:gd name="adj" fmla="val 9334"/>
            </a:avLst>
          </a:prstGeom>
          <a:solidFill>
            <a:srgbClr val="FFFFFF"/>
          </a:solidFill>
          <a:ln w="6350">
            <a:solidFill>
              <a:srgbClr val="D9DEE6"/>
            </a:solidFill>
            <a:prstDash val="solid"/>
          </a:ln>
        </p:spPr>
      </p:sp>
      <p:sp>
        <p:nvSpPr>
          <p:cNvPr id="8" name="Text 6"/>
          <p:cNvSpPr/>
          <p:nvPr/>
        </p:nvSpPr>
        <p:spPr>
          <a:xfrm>
            <a:off x="4560094" y="2351881"/>
            <a:ext cx="31638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04E16"/>
                </a:solidFill>
                <a:latin typeface="Arial" pitchFamily="34" charset="0"/>
                <a:ea typeface="Arial" pitchFamily="34" charset="-122"/>
                <a:cs typeface="Arial" pitchFamily="34" charset="-120"/>
              </a:rPr>
              <a:t>2</a:t>
            </a:r>
            <a:endParaRPr lang="en-US" sz="1200" dirty="0"/>
          </a:p>
        </p:txBody>
      </p:sp>
      <p:sp>
        <p:nvSpPr>
          <p:cNvPr id="9" name="Text 7"/>
          <p:cNvSpPr/>
          <p:nvPr/>
        </p:nvSpPr>
        <p:spPr>
          <a:xfrm>
            <a:off x="4560094" y="2603341"/>
            <a:ext cx="31638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Tutor and co-tutor assignment</a:t>
            </a:r>
            <a:endParaRPr lang="en-US" sz="1400" dirty="0"/>
          </a:p>
        </p:txBody>
      </p:sp>
      <p:sp>
        <p:nvSpPr>
          <p:cNvPr id="10" name="Shape 8"/>
          <p:cNvSpPr/>
          <p:nvPr/>
        </p:nvSpPr>
        <p:spPr>
          <a:xfrm>
            <a:off x="7944882" y="2197577"/>
            <a:ext cx="3431143" cy="782320"/>
          </a:xfrm>
          <a:prstGeom prst="roundRect">
            <a:avLst>
              <a:gd name="adj" fmla="val 9334"/>
            </a:avLst>
          </a:prstGeom>
          <a:solidFill>
            <a:srgbClr val="FFFFFF"/>
          </a:solidFill>
          <a:ln w="6350">
            <a:solidFill>
              <a:srgbClr val="D9DEE6"/>
            </a:solidFill>
            <a:prstDash val="solid"/>
          </a:ln>
        </p:spPr>
      </p:sp>
      <p:sp>
        <p:nvSpPr>
          <p:cNvPr id="11" name="Text 9"/>
          <p:cNvSpPr/>
          <p:nvPr/>
        </p:nvSpPr>
        <p:spPr>
          <a:xfrm>
            <a:off x="8124587" y="2351881"/>
            <a:ext cx="31638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04E16"/>
                </a:solidFill>
                <a:latin typeface="Arial" pitchFamily="34" charset="0"/>
                <a:ea typeface="Arial" pitchFamily="34" charset="-122"/>
                <a:cs typeface="Arial" pitchFamily="34" charset="-120"/>
              </a:rPr>
              <a:t>3</a:t>
            </a:r>
            <a:endParaRPr lang="en-US" sz="1200" dirty="0"/>
          </a:p>
        </p:txBody>
      </p:sp>
      <p:sp>
        <p:nvSpPr>
          <p:cNvPr id="12" name="Text 10"/>
          <p:cNvSpPr/>
          <p:nvPr/>
        </p:nvSpPr>
        <p:spPr>
          <a:xfrm>
            <a:off x="8124587" y="2603341"/>
            <a:ext cx="31638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Thesis I and Thesis II courses</a:t>
            </a:r>
            <a:endParaRPr lang="en-US" sz="1400" dirty="0"/>
          </a:p>
        </p:txBody>
      </p:sp>
      <p:sp>
        <p:nvSpPr>
          <p:cNvPr id="13" name="Shape 11"/>
          <p:cNvSpPr/>
          <p:nvPr/>
        </p:nvSpPr>
        <p:spPr>
          <a:xfrm>
            <a:off x="815975" y="3113246"/>
            <a:ext cx="3431064" cy="931942"/>
          </a:xfrm>
          <a:prstGeom prst="roundRect">
            <a:avLst>
              <a:gd name="adj" fmla="val 7836"/>
            </a:avLst>
          </a:prstGeom>
          <a:solidFill>
            <a:srgbClr val="FFFFFF"/>
          </a:solidFill>
          <a:ln w="6350">
            <a:solidFill>
              <a:srgbClr val="D9DEE6"/>
            </a:solidFill>
            <a:prstDash val="solid"/>
          </a:ln>
        </p:spPr>
      </p:sp>
      <p:sp>
        <p:nvSpPr>
          <p:cNvPr id="14" name="Text 12"/>
          <p:cNvSpPr/>
          <p:nvPr/>
        </p:nvSpPr>
        <p:spPr>
          <a:xfrm>
            <a:off x="995680" y="3267552"/>
            <a:ext cx="316380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04E16"/>
                </a:solidFill>
                <a:latin typeface="Arial" pitchFamily="34" charset="0"/>
                <a:ea typeface="Arial" pitchFamily="34" charset="-122"/>
                <a:cs typeface="Arial" pitchFamily="34" charset="-120"/>
              </a:rPr>
              <a:t>4</a:t>
            </a:r>
            <a:endParaRPr lang="en-US" sz="1200" dirty="0"/>
          </a:p>
        </p:txBody>
      </p:sp>
      <p:sp>
        <p:nvSpPr>
          <p:cNvPr id="15" name="Text 13"/>
          <p:cNvSpPr/>
          <p:nvPr/>
        </p:nvSpPr>
        <p:spPr>
          <a:xfrm>
            <a:off x="995680" y="3519012"/>
            <a:ext cx="316380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Review by a committee of three</a:t>
            </a:r>
            <a:endParaRPr lang="en-US" sz="1400" dirty="0"/>
          </a:p>
        </p:txBody>
      </p:sp>
      <p:sp>
        <p:nvSpPr>
          <p:cNvPr id="16" name="Shape 14"/>
          <p:cNvSpPr/>
          <p:nvPr/>
        </p:nvSpPr>
        <p:spPr>
          <a:xfrm>
            <a:off x="4380389" y="3113246"/>
            <a:ext cx="3431143" cy="931942"/>
          </a:xfrm>
          <a:prstGeom prst="roundRect">
            <a:avLst>
              <a:gd name="adj" fmla="val 7836"/>
            </a:avLst>
          </a:prstGeom>
          <a:solidFill>
            <a:srgbClr val="FFFFFF"/>
          </a:solidFill>
          <a:ln w="6350">
            <a:solidFill>
              <a:srgbClr val="D9DEE6"/>
            </a:solidFill>
            <a:prstDash val="solid"/>
          </a:ln>
        </p:spPr>
      </p:sp>
      <p:sp>
        <p:nvSpPr>
          <p:cNvPr id="17" name="Text 15"/>
          <p:cNvSpPr/>
          <p:nvPr/>
        </p:nvSpPr>
        <p:spPr>
          <a:xfrm>
            <a:off x="4560094" y="3267552"/>
            <a:ext cx="31638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04E16"/>
                </a:solidFill>
                <a:latin typeface="Arial" pitchFamily="34" charset="0"/>
                <a:ea typeface="Arial" pitchFamily="34" charset="-122"/>
                <a:cs typeface="Arial" pitchFamily="34" charset="-120"/>
              </a:rPr>
              <a:t>5</a:t>
            </a:r>
            <a:endParaRPr lang="en-US" sz="1200" dirty="0"/>
          </a:p>
        </p:txBody>
      </p:sp>
      <p:sp>
        <p:nvSpPr>
          <p:cNvPr id="18" name="Text 16"/>
          <p:cNvSpPr/>
          <p:nvPr/>
        </p:nvSpPr>
        <p:spPr>
          <a:xfrm>
            <a:off x="4560094" y="3519012"/>
            <a:ext cx="31638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Similarity (plagiarism) check</a:t>
            </a:r>
            <a:endParaRPr lang="en-US" sz="1400" dirty="0"/>
          </a:p>
        </p:txBody>
      </p:sp>
      <p:sp>
        <p:nvSpPr>
          <p:cNvPr id="19" name="Shape 17"/>
          <p:cNvSpPr/>
          <p:nvPr/>
        </p:nvSpPr>
        <p:spPr>
          <a:xfrm>
            <a:off x="7944882" y="3113246"/>
            <a:ext cx="3431143" cy="931942"/>
          </a:xfrm>
          <a:prstGeom prst="roundRect">
            <a:avLst>
              <a:gd name="adj" fmla="val 7836"/>
            </a:avLst>
          </a:prstGeom>
          <a:solidFill>
            <a:srgbClr val="FFFFFF"/>
          </a:solidFill>
          <a:ln w="6350">
            <a:solidFill>
              <a:srgbClr val="D9DEE6"/>
            </a:solidFill>
            <a:prstDash val="solid"/>
          </a:ln>
        </p:spPr>
      </p:sp>
      <p:sp>
        <p:nvSpPr>
          <p:cNvPr id="20" name="Text 18"/>
          <p:cNvSpPr/>
          <p:nvPr/>
        </p:nvSpPr>
        <p:spPr>
          <a:xfrm>
            <a:off x="8124587" y="3267552"/>
            <a:ext cx="3163885" cy="215186"/>
          </a:xfrm>
          <a:prstGeom prst="rect">
            <a:avLst/>
          </a:prstGeom>
          <a:noFill/>
          <a:ln/>
        </p:spPr>
        <p:txBody>
          <a:bodyPr wrap="square" lIns="0" tIns="0" rIns="0" bIns="0" rtlCol="0" anchor="t">
            <a:normAutofit/>
          </a:bodyPr>
          <a:lstStyle/>
          <a:p>
            <a:pPr algn="l" indent="0" marL="0">
              <a:lnSpc>
                <a:spcPts val="1523"/>
              </a:lnSpc>
              <a:buNone/>
            </a:pPr>
            <a:r>
              <a:rPr lang="en-US" sz="1088" b="1" dirty="0">
                <a:solidFill>
                  <a:srgbClr val="B04E16"/>
                </a:solidFill>
                <a:latin typeface="Arial" pitchFamily="34" charset="0"/>
                <a:ea typeface="Arial" pitchFamily="34" charset="-122"/>
                <a:cs typeface="Arial" pitchFamily="34" charset="-120"/>
              </a:rPr>
              <a:t>6</a:t>
            </a:r>
            <a:endParaRPr lang="en-US" sz="1088" dirty="0"/>
          </a:p>
        </p:txBody>
      </p:sp>
      <p:sp>
        <p:nvSpPr>
          <p:cNvPr id="21" name="Text 19"/>
          <p:cNvSpPr/>
          <p:nvPr/>
        </p:nvSpPr>
        <p:spPr>
          <a:xfrm>
            <a:off x="8124587" y="3495437"/>
            <a:ext cx="3248263" cy="420846"/>
          </a:xfrm>
          <a:prstGeom prst="rect">
            <a:avLst/>
          </a:prstGeom>
          <a:noFill/>
          <a:ln/>
        </p:spPr>
        <p:txBody>
          <a:bodyPr wrap="square" lIns="0" tIns="0" rIns="0" bIns="0" rtlCol="0" anchor="t">
            <a:normAutofit/>
          </a:bodyPr>
          <a:lstStyle/>
          <a:p>
            <a:pPr algn="l" indent="0" marL="0">
              <a:lnSpc>
                <a:spcPts val="1701"/>
              </a:lnSpc>
              <a:buNone/>
            </a:pPr>
            <a:r>
              <a:rPr lang="en-US" sz="1361" b="1" dirty="0">
                <a:solidFill>
                  <a:srgbClr val="14213D"/>
                </a:solidFill>
                <a:latin typeface="Arial" pitchFamily="34" charset="0"/>
                <a:ea typeface="Arial" pitchFamily="34" charset="-122"/>
                <a:cs typeface="Arial" pitchFamily="34" charset="-120"/>
              </a:rPr>
              <a:t>Administrative requirements certified</a:t>
            </a:r>
            <a:endParaRPr lang="en-US" sz="1361" dirty="0"/>
          </a:p>
        </p:txBody>
      </p:sp>
      <p:sp>
        <p:nvSpPr>
          <p:cNvPr id="22" name="Shape 20"/>
          <p:cNvSpPr/>
          <p:nvPr/>
        </p:nvSpPr>
        <p:spPr>
          <a:xfrm>
            <a:off x="815975" y="4178538"/>
            <a:ext cx="3431064" cy="932021"/>
          </a:xfrm>
          <a:prstGeom prst="roundRect">
            <a:avLst>
              <a:gd name="adj" fmla="val 7835"/>
            </a:avLst>
          </a:prstGeom>
          <a:solidFill>
            <a:srgbClr val="FFFFFF"/>
          </a:solidFill>
          <a:ln w="6350">
            <a:solidFill>
              <a:srgbClr val="D9DEE6"/>
            </a:solidFill>
            <a:prstDash val="solid"/>
          </a:ln>
        </p:spPr>
      </p:sp>
      <p:sp>
        <p:nvSpPr>
          <p:cNvPr id="23" name="Text 21"/>
          <p:cNvSpPr/>
          <p:nvPr/>
        </p:nvSpPr>
        <p:spPr>
          <a:xfrm>
            <a:off x="995680" y="4332843"/>
            <a:ext cx="3163803" cy="215265"/>
          </a:xfrm>
          <a:prstGeom prst="rect">
            <a:avLst/>
          </a:prstGeom>
          <a:noFill/>
          <a:ln/>
        </p:spPr>
        <p:txBody>
          <a:bodyPr wrap="square" lIns="0" tIns="0" rIns="0" bIns="0" rtlCol="0" anchor="t">
            <a:normAutofit/>
          </a:bodyPr>
          <a:lstStyle/>
          <a:p>
            <a:pPr algn="l" indent="0" marL="0">
              <a:lnSpc>
                <a:spcPts val="1523"/>
              </a:lnSpc>
              <a:buNone/>
            </a:pPr>
            <a:r>
              <a:rPr lang="en-US" sz="1088" b="1" dirty="0">
                <a:solidFill>
                  <a:srgbClr val="B04E16"/>
                </a:solidFill>
                <a:latin typeface="Arial" pitchFamily="34" charset="0"/>
                <a:ea typeface="Arial" pitchFamily="34" charset="-122"/>
                <a:cs typeface="Arial" pitchFamily="34" charset="-120"/>
              </a:rPr>
              <a:t>7</a:t>
            </a:r>
            <a:endParaRPr lang="en-US" sz="1088" dirty="0"/>
          </a:p>
        </p:txBody>
      </p:sp>
      <p:sp>
        <p:nvSpPr>
          <p:cNvPr id="24" name="Text 22"/>
          <p:cNvSpPr/>
          <p:nvPr/>
        </p:nvSpPr>
        <p:spPr>
          <a:xfrm>
            <a:off x="995680" y="4560808"/>
            <a:ext cx="3248184" cy="420846"/>
          </a:xfrm>
          <a:prstGeom prst="rect">
            <a:avLst/>
          </a:prstGeom>
          <a:noFill/>
          <a:ln/>
        </p:spPr>
        <p:txBody>
          <a:bodyPr wrap="square" lIns="0" tIns="0" rIns="0" bIns="0" rtlCol="0" anchor="t">
            <a:normAutofit/>
          </a:bodyPr>
          <a:lstStyle/>
          <a:p>
            <a:pPr algn="l" indent="0" marL="0">
              <a:lnSpc>
                <a:spcPts val="1717"/>
              </a:lnSpc>
              <a:buNone/>
            </a:pPr>
            <a:r>
              <a:rPr lang="en-US" sz="1374" b="1" dirty="0">
                <a:solidFill>
                  <a:srgbClr val="14213D"/>
                </a:solidFill>
                <a:latin typeface="Arial" pitchFamily="34" charset="0"/>
                <a:ea typeface="Arial" pitchFamily="34" charset="-122"/>
                <a:cs typeface="Arial" pitchFamily="34" charset="-120"/>
              </a:rPr>
              <a:t>Defense scheduling: room, date, jury</a:t>
            </a:r>
            <a:endParaRPr lang="en-US" sz="1374" dirty="0"/>
          </a:p>
        </p:txBody>
      </p:sp>
      <p:sp>
        <p:nvSpPr>
          <p:cNvPr id="25" name="Shape 23"/>
          <p:cNvSpPr/>
          <p:nvPr/>
        </p:nvSpPr>
        <p:spPr>
          <a:xfrm>
            <a:off x="4380389" y="4178538"/>
            <a:ext cx="3431143" cy="932021"/>
          </a:xfrm>
          <a:prstGeom prst="roundRect">
            <a:avLst>
              <a:gd name="adj" fmla="val 7835"/>
            </a:avLst>
          </a:prstGeom>
          <a:solidFill>
            <a:srgbClr val="FFFFFF"/>
          </a:solidFill>
          <a:ln w="6350">
            <a:solidFill>
              <a:srgbClr val="D9DEE6"/>
            </a:solidFill>
            <a:prstDash val="solid"/>
          </a:ln>
        </p:spPr>
      </p:sp>
      <p:sp>
        <p:nvSpPr>
          <p:cNvPr id="26" name="Text 24"/>
          <p:cNvSpPr/>
          <p:nvPr/>
        </p:nvSpPr>
        <p:spPr>
          <a:xfrm>
            <a:off x="4560094" y="4332843"/>
            <a:ext cx="31638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04E16"/>
                </a:solidFill>
                <a:latin typeface="Arial" pitchFamily="34" charset="0"/>
                <a:ea typeface="Arial" pitchFamily="34" charset="-122"/>
                <a:cs typeface="Arial" pitchFamily="34" charset="-120"/>
              </a:rPr>
              <a:t>8</a:t>
            </a:r>
            <a:endParaRPr lang="en-US" sz="1200" dirty="0"/>
          </a:p>
        </p:txBody>
      </p:sp>
      <p:sp>
        <p:nvSpPr>
          <p:cNvPr id="27" name="Text 25"/>
          <p:cNvSpPr/>
          <p:nvPr/>
        </p:nvSpPr>
        <p:spPr>
          <a:xfrm>
            <a:off x="4560094" y="4584303"/>
            <a:ext cx="31638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13D"/>
                </a:solidFill>
                <a:latin typeface="Arial" pitchFamily="34" charset="0"/>
                <a:ea typeface="Arial" pitchFamily="34" charset="-122"/>
                <a:cs typeface="Arial" pitchFamily="34" charset="-120"/>
              </a:rPr>
              <a:t>Oral defense and jury grades</a:t>
            </a:r>
            <a:endParaRPr lang="en-US" sz="1400" dirty="0"/>
          </a:p>
        </p:txBody>
      </p:sp>
      <p:sp>
        <p:nvSpPr>
          <p:cNvPr id="28" name="Shape 26"/>
          <p:cNvSpPr/>
          <p:nvPr/>
        </p:nvSpPr>
        <p:spPr>
          <a:xfrm>
            <a:off x="7944882" y="4178538"/>
            <a:ext cx="3431143" cy="932021"/>
          </a:xfrm>
          <a:prstGeom prst="roundRect">
            <a:avLst>
              <a:gd name="adj" fmla="val 7835"/>
            </a:avLst>
          </a:prstGeom>
          <a:solidFill>
            <a:srgbClr val="14213D"/>
          </a:solidFill>
          <a:ln w="6350">
            <a:solidFill>
              <a:srgbClr val="14213D"/>
            </a:solidFill>
            <a:prstDash val="solid"/>
          </a:ln>
        </p:spPr>
      </p:sp>
      <p:sp>
        <p:nvSpPr>
          <p:cNvPr id="29" name="Text 27"/>
          <p:cNvSpPr/>
          <p:nvPr/>
        </p:nvSpPr>
        <p:spPr>
          <a:xfrm>
            <a:off x="8124587" y="4332843"/>
            <a:ext cx="31638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060"/>
                </a:solidFill>
                <a:latin typeface="Arial" pitchFamily="34" charset="0"/>
                <a:ea typeface="Arial" pitchFamily="34" charset="-122"/>
                <a:cs typeface="Arial" pitchFamily="34" charset="-120"/>
              </a:rPr>
              <a:t>9</a:t>
            </a:r>
            <a:endParaRPr lang="en-US" sz="1200" dirty="0"/>
          </a:p>
        </p:txBody>
      </p:sp>
      <p:sp>
        <p:nvSpPr>
          <p:cNvPr id="30" name="Text 28"/>
          <p:cNvSpPr/>
          <p:nvPr/>
        </p:nvSpPr>
        <p:spPr>
          <a:xfrm>
            <a:off x="8124587" y="4584303"/>
            <a:ext cx="316388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F7F6F2"/>
                </a:solidFill>
                <a:latin typeface="Arial" pitchFamily="34" charset="0"/>
                <a:ea typeface="Arial" pitchFamily="34" charset="-122"/>
                <a:cs typeface="Arial" pitchFamily="34" charset="-120"/>
              </a:rPr>
              <a:t>Final grade and graduation</a:t>
            </a:r>
            <a:endParaRPr lang="en-US" sz="1400" dirty="0"/>
          </a:p>
        </p:txBody>
      </p:sp>
      <p:sp>
        <p:nvSpPr>
          <p:cNvPr id="31" name="Text 29"/>
          <p:cNvSpPr/>
          <p:nvPr/>
        </p:nvSpPr>
        <p:spPr>
          <a:xfrm>
            <a:off x="812800" y="5367734"/>
            <a:ext cx="10883392" cy="499666"/>
          </a:xfrm>
          <a:prstGeom prst="rect">
            <a:avLst/>
          </a:prstGeom>
          <a:noFill/>
          <a:ln/>
        </p:spPr>
        <p:txBody>
          <a:bodyPr wrap="square" lIns="0" tIns="0" rIns="0" bIns="0" rtlCol="0" anchor="t">
            <a:normAutofit/>
          </a:bodyPr>
          <a:lstStyle/>
          <a:p>
            <a:pPr algn="l" indent="0" marL="0">
              <a:lnSpc>
                <a:spcPts val="1886"/>
              </a:lnSpc>
              <a:buNone/>
            </a:pPr>
            <a:r>
              <a:rPr lang="en-US" sz="1347" dirty="0">
                <a:solidFill>
                  <a:srgbClr val="4A5568"/>
                </a:solidFill>
                <a:latin typeface="Arial" pitchFamily="34" charset="0"/>
                <a:ea typeface="Arial" pitchFamily="34" charset="-122"/>
                <a:cs typeface="Arial" pitchFamily="34" charset="-120"/>
              </a:rPr>
              <a:t>Steps 4–6 gate the defense, and internships, community engagement and English proficiency are required by national regulation (CES, 2023).</a:t>
            </a:r>
            <a:endParaRPr lang="en-US" sz="1347" dirty="0"/>
          </a:p>
        </p:txBody>
      </p:sp>
      <p:sp>
        <p:nvSpPr>
          <p:cNvPr id="32" name="Text 30"/>
          <p:cNvSpPr/>
          <p:nvPr/>
        </p:nvSpPr>
        <p:spPr>
          <a:xfrm>
            <a:off x="812800" y="6238241"/>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Thesis Management · Project Proposal</a:t>
            </a:r>
            <a:endParaRPr lang="en-US" sz="1200" dirty="0"/>
          </a:p>
        </p:txBody>
      </p:sp>
      <p:sp>
        <p:nvSpPr>
          <p:cNvPr id="33" name="Text 31"/>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6"/>
                </a:solidFill>
                <a:latin typeface="Arial" pitchFamily="34" charset="0"/>
                <a:ea typeface="Arial" pitchFamily="34" charset="-122"/>
                <a:cs typeface="Arial" pitchFamily="34" charset="-120"/>
              </a:rPr>
              <a:t>PROBLEM</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Today the process runs on disconnected tools</a:t>
            </a:r>
            <a:endParaRPr lang="en-US" sz="3200" dirty="0"/>
          </a:p>
        </p:txBody>
      </p:sp>
      <p:sp>
        <p:nvSpPr>
          <p:cNvPr id="4" name="Shape 2"/>
          <p:cNvSpPr/>
          <p:nvPr/>
        </p:nvSpPr>
        <p:spPr>
          <a:xfrm>
            <a:off x="815975" y="1857375"/>
            <a:ext cx="2520950" cy="1675130"/>
          </a:xfrm>
          <a:prstGeom prst="roundRect">
            <a:avLst>
              <a:gd name="adj" fmla="val 4359"/>
            </a:avLst>
          </a:prstGeom>
          <a:solidFill>
            <a:srgbClr val="FFFFFF"/>
          </a:solidFill>
          <a:ln w="6350">
            <a:solidFill>
              <a:srgbClr val="D9DEE6"/>
            </a:solidFill>
            <a:prstDash val="solid"/>
          </a:ln>
        </p:spPr>
      </p:sp>
      <p:pic>
        <p:nvPicPr>
          <p:cNvPr id="5" name="Image 0" descr="PaperPlane">    </p:cNvPr>
          <p:cNvPicPr>
            <a:picLocks noChangeAspect="1"/>
          </p:cNvPicPr>
          <p:nvPr/>
        </p:nvPicPr>
        <p:blipFill>
          <a:blip r:embed="rId1"/>
          <a:srcRect l="0" r="0" t="0" b="0"/>
          <a:stretch/>
        </p:blipFill>
        <p:spPr>
          <a:xfrm>
            <a:off x="1046480" y="2087880"/>
            <a:ext cx="304800" cy="304800"/>
          </a:xfrm>
          <a:prstGeom prst="rect">
            <a:avLst/>
          </a:prstGeom>
        </p:spPr>
      </p:pic>
      <p:sp>
        <p:nvSpPr>
          <p:cNvPr id="6" name="Text 3"/>
          <p:cNvSpPr/>
          <p:nvPr/>
        </p:nvSpPr>
        <p:spPr>
          <a:xfrm>
            <a:off x="1046480" y="2494280"/>
            <a:ext cx="21217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Memos</a:t>
            </a:r>
            <a:endParaRPr lang="en-US" sz="1600" dirty="0"/>
          </a:p>
        </p:txBody>
      </p:sp>
      <p:sp>
        <p:nvSpPr>
          <p:cNvPr id="7" name="Text 4"/>
          <p:cNvSpPr/>
          <p:nvPr/>
        </p:nvSpPr>
        <p:spPr>
          <a:xfrm>
            <a:off x="1046480" y="2839720"/>
            <a:ext cx="212173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A separate system issues official letters</a:t>
            </a:r>
            <a:endParaRPr lang="en-US" sz="1300" dirty="0"/>
          </a:p>
        </p:txBody>
      </p:sp>
      <p:sp>
        <p:nvSpPr>
          <p:cNvPr id="8" name="Shape 5"/>
          <p:cNvSpPr/>
          <p:nvPr/>
        </p:nvSpPr>
        <p:spPr>
          <a:xfrm>
            <a:off x="3495675" y="1857375"/>
            <a:ext cx="2520950" cy="1675130"/>
          </a:xfrm>
          <a:prstGeom prst="roundRect">
            <a:avLst>
              <a:gd name="adj" fmla="val 4359"/>
            </a:avLst>
          </a:prstGeom>
          <a:solidFill>
            <a:srgbClr val="FFFFFF"/>
          </a:solidFill>
          <a:ln w="6350">
            <a:solidFill>
              <a:srgbClr val="D9DEE6"/>
            </a:solidFill>
            <a:prstDash val="solid"/>
          </a:ln>
        </p:spPr>
      </p:sp>
      <p:pic>
        <p:nvPicPr>
          <p:cNvPr id="9" name="Image 1" descr="Home">    </p:cNvPr>
          <p:cNvPicPr>
            <a:picLocks noChangeAspect="1"/>
          </p:cNvPicPr>
          <p:nvPr/>
        </p:nvPicPr>
        <p:blipFill>
          <a:blip r:embed="rId2"/>
          <a:srcRect l="0" r="0" t="0" b="0"/>
          <a:stretch/>
        </p:blipFill>
        <p:spPr>
          <a:xfrm>
            <a:off x="3726180" y="2087880"/>
            <a:ext cx="304800" cy="304800"/>
          </a:xfrm>
          <a:prstGeom prst="rect">
            <a:avLst/>
          </a:prstGeom>
        </p:spPr>
      </p:pic>
      <p:sp>
        <p:nvSpPr>
          <p:cNvPr id="10" name="Text 6"/>
          <p:cNvSpPr/>
          <p:nvPr/>
        </p:nvSpPr>
        <p:spPr>
          <a:xfrm>
            <a:off x="3726180" y="2494280"/>
            <a:ext cx="21217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Rooms</a:t>
            </a:r>
            <a:endParaRPr lang="en-US" sz="1600" dirty="0"/>
          </a:p>
        </p:txBody>
      </p:sp>
      <p:sp>
        <p:nvSpPr>
          <p:cNvPr id="11" name="Text 7"/>
          <p:cNvSpPr/>
          <p:nvPr/>
        </p:nvSpPr>
        <p:spPr>
          <a:xfrm>
            <a:off x="3726180" y="2839720"/>
            <a:ext cx="212173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An external tool books defense rooms</a:t>
            </a:r>
            <a:endParaRPr lang="en-US" sz="1300" dirty="0"/>
          </a:p>
        </p:txBody>
      </p:sp>
      <p:sp>
        <p:nvSpPr>
          <p:cNvPr id="12" name="Shape 8"/>
          <p:cNvSpPr/>
          <p:nvPr/>
        </p:nvSpPr>
        <p:spPr>
          <a:xfrm>
            <a:off x="6175375" y="1857375"/>
            <a:ext cx="2520950" cy="1675130"/>
          </a:xfrm>
          <a:prstGeom prst="roundRect">
            <a:avLst>
              <a:gd name="adj" fmla="val 4359"/>
            </a:avLst>
          </a:prstGeom>
          <a:solidFill>
            <a:srgbClr val="FFFFFF"/>
          </a:solidFill>
          <a:ln w="6350">
            <a:solidFill>
              <a:srgbClr val="D9DEE6"/>
            </a:solidFill>
            <a:prstDash val="solid"/>
          </a:ln>
        </p:spPr>
      </p:sp>
      <p:pic>
        <p:nvPicPr>
          <p:cNvPr id="13" name="Image 2" descr="Verified">    </p:cNvPr>
          <p:cNvPicPr>
            <a:picLocks noChangeAspect="1"/>
          </p:cNvPicPr>
          <p:nvPr/>
        </p:nvPicPr>
        <p:blipFill>
          <a:blip r:embed="rId3"/>
          <a:srcRect l="0" r="0" t="0" b="0"/>
          <a:stretch/>
        </p:blipFill>
        <p:spPr>
          <a:xfrm>
            <a:off x="6405880" y="2087880"/>
            <a:ext cx="304800" cy="304800"/>
          </a:xfrm>
          <a:prstGeom prst="rect">
            <a:avLst/>
          </a:prstGeom>
        </p:spPr>
      </p:pic>
      <p:sp>
        <p:nvSpPr>
          <p:cNvPr id="14" name="Text 9"/>
          <p:cNvSpPr/>
          <p:nvPr/>
        </p:nvSpPr>
        <p:spPr>
          <a:xfrm>
            <a:off x="6405880" y="2494280"/>
            <a:ext cx="21217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Clearances</a:t>
            </a:r>
            <a:endParaRPr lang="en-US" sz="1600" dirty="0"/>
          </a:p>
        </p:txBody>
      </p:sp>
      <p:sp>
        <p:nvSpPr>
          <p:cNvPr id="15" name="Text 10"/>
          <p:cNvSpPr/>
          <p:nvPr/>
        </p:nvSpPr>
        <p:spPr>
          <a:xfrm>
            <a:off x="6405880" y="2839720"/>
            <a:ext cx="212173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Scattered modules validate requirements</a:t>
            </a:r>
            <a:endParaRPr lang="en-US" sz="1300" dirty="0"/>
          </a:p>
        </p:txBody>
      </p:sp>
      <p:sp>
        <p:nvSpPr>
          <p:cNvPr id="16" name="Shape 11"/>
          <p:cNvSpPr/>
          <p:nvPr/>
        </p:nvSpPr>
        <p:spPr>
          <a:xfrm>
            <a:off x="8855075" y="1857375"/>
            <a:ext cx="2520950" cy="1675130"/>
          </a:xfrm>
          <a:prstGeom prst="roundRect">
            <a:avLst>
              <a:gd name="adj" fmla="val 4359"/>
            </a:avLst>
          </a:prstGeom>
          <a:solidFill>
            <a:srgbClr val="FFFFFF"/>
          </a:solidFill>
          <a:ln w="6350">
            <a:solidFill>
              <a:srgbClr val="D9DEE6"/>
            </a:solidFill>
            <a:prstDash val="solid"/>
          </a:ln>
        </p:spPr>
      </p:sp>
      <p:pic>
        <p:nvPicPr>
          <p:cNvPr id="17" name="Image 3" descr="Chart">    </p:cNvPr>
          <p:cNvPicPr>
            <a:picLocks noChangeAspect="1"/>
          </p:cNvPicPr>
          <p:nvPr/>
        </p:nvPicPr>
        <p:blipFill>
          <a:blip r:embed="rId4"/>
          <a:srcRect l="0" r="0" t="0" b="0"/>
          <a:stretch/>
        </p:blipFill>
        <p:spPr>
          <a:xfrm>
            <a:off x="9085580" y="2087880"/>
            <a:ext cx="304800" cy="304800"/>
          </a:xfrm>
          <a:prstGeom prst="rect">
            <a:avLst/>
          </a:prstGeom>
        </p:spPr>
      </p:pic>
      <p:sp>
        <p:nvSpPr>
          <p:cNvPr id="18" name="Text 12"/>
          <p:cNvSpPr/>
          <p:nvPr/>
        </p:nvSpPr>
        <p:spPr>
          <a:xfrm>
            <a:off x="9085580" y="2494280"/>
            <a:ext cx="212173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Spreadsheets</a:t>
            </a:r>
            <a:endParaRPr lang="en-US" sz="1600" dirty="0"/>
          </a:p>
        </p:txBody>
      </p:sp>
      <p:sp>
        <p:nvSpPr>
          <p:cNvPr id="19" name="Text 13"/>
          <p:cNvSpPr/>
          <p:nvPr/>
        </p:nvSpPr>
        <p:spPr>
          <a:xfrm>
            <a:off x="9085580" y="2839720"/>
            <a:ext cx="212173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Local files track calendars and juries</a:t>
            </a:r>
            <a:endParaRPr lang="en-US" sz="1300" dirty="0"/>
          </a:p>
        </p:txBody>
      </p:sp>
      <p:sp>
        <p:nvSpPr>
          <p:cNvPr id="20" name="Shape 14"/>
          <p:cNvSpPr/>
          <p:nvPr/>
        </p:nvSpPr>
        <p:spPr>
          <a:xfrm>
            <a:off x="812800" y="3840480"/>
            <a:ext cx="10566400" cy="711200"/>
          </a:xfrm>
          <a:prstGeom prst="roundRect">
            <a:avLst>
              <a:gd name="adj" fmla="val 10714"/>
            </a:avLst>
          </a:prstGeom>
          <a:solidFill>
            <a:srgbClr val="EDEFF3"/>
          </a:solidFill>
          <a:ln/>
        </p:spPr>
      </p:sp>
      <p:pic>
        <p:nvPicPr>
          <p:cNvPr id="21" name="Image 4" descr="Warning">    </p:cNvPr>
          <p:cNvPicPr>
            <a:picLocks noChangeAspect="1"/>
          </p:cNvPicPr>
          <p:nvPr/>
        </p:nvPicPr>
        <p:blipFill>
          <a:blip r:embed="rId5"/>
          <a:srcRect l="0" r="0" t="0" b="0"/>
          <a:stretch/>
        </p:blipFill>
        <p:spPr>
          <a:xfrm>
            <a:off x="1066800" y="4043680"/>
            <a:ext cx="304800" cy="304800"/>
          </a:xfrm>
          <a:prstGeom prst="rect">
            <a:avLst/>
          </a:prstGeom>
        </p:spPr>
      </p:pic>
      <p:sp>
        <p:nvSpPr>
          <p:cNvPr id="22" name="Text 15"/>
          <p:cNvSpPr/>
          <p:nvPr/>
        </p:nvSpPr>
        <p:spPr>
          <a:xfrm>
            <a:off x="1524000" y="4062730"/>
            <a:ext cx="9855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Arial" pitchFamily="34" charset="0"/>
                <a:ea typeface="Arial" pitchFamily="34" charset="-122"/>
                <a:cs typeface="Arial" pitchFamily="34" charset="-120"/>
              </a:rPr>
              <a:t>Result:</a:t>
            </a:r>
            <a:r>
              <a:rPr lang="en-US" sz="1500" dirty="0">
                <a:solidFill>
                  <a:srgbClr val="14213D"/>
                </a:solidFill>
                <a:latin typeface="Arial" pitchFamily="34" charset="0"/>
                <a:ea typeface="Arial" pitchFamily="34" charset="-122"/>
                <a:cs typeface="Arial" pitchFamily="34" charset="-120"/>
              </a:rPr>
              <a:t> manual consolidation, delays, inconsistent records, and no trace of who approved what, or when.</a:t>
            </a:r>
            <a:endParaRPr lang="en-US" sz="1500" dirty="0"/>
          </a:p>
        </p:txBody>
      </p:sp>
      <p:sp>
        <p:nvSpPr>
          <p:cNvPr id="23" name="Text 16"/>
          <p:cNvSpPr/>
          <p:nvPr/>
        </p:nvSpPr>
        <p:spPr>
          <a:xfrm>
            <a:off x="812800" y="6238241"/>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Thesis Management · Project Proposal</a:t>
            </a:r>
            <a:endParaRPr lang="en-US" sz="1200" dirty="0"/>
          </a:p>
        </p:txBody>
      </p:sp>
      <p:sp>
        <p:nvSpPr>
          <p:cNvPr id="24" name="Text 17"/>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6"/>
                </a:solidFill>
                <a:latin typeface="Arial" pitchFamily="34" charset="0"/>
                <a:ea typeface="Arial" pitchFamily="34" charset="-122"/>
                <a:cs typeface="Arial" pitchFamily="34" charset="-120"/>
              </a:rPr>
              <a:t>PROBLEM</a:t>
            </a:r>
            <a:endParaRPr lang="en-US" sz="1200" dirty="0"/>
          </a:p>
        </p:txBody>
      </p:sp>
      <p:sp>
        <p:nvSpPr>
          <p:cNvPr id="3" name="Text 1"/>
          <p:cNvSpPr/>
          <p:nvPr>
            <p:ph type="title"/>
          </p:nvPr>
        </p:nvSpPr>
        <p:spPr>
          <a:xfrm>
            <a:off x="812800" y="1102361"/>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The inherited database is a foundation, not yet a product</a:t>
            </a:r>
            <a:endParaRPr lang="en-US" sz="3200" dirty="0"/>
          </a:p>
        </p:txBody>
      </p:sp>
      <p:sp>
        <p:nvSpPr>
          <p:cNvPr id="4" name="Text 2"/>
          <p:cNvSpPr/>
          <p:nvPr/>
        </p:nvSpPr>
        <p:spPr>
          <a:xfrm>
            <a:off x="812800" y="2301241"/>
            <a:ext cx="2877820" cy="1422400"/>
          </a:xfrm>
          <a:prstGeom prst="rect">
            <a:avLst/>
          </a:prstGeom>
          <a:noFill/>
          <a:ln/>
        </p:spPr>
        <p:txBody>
          <a:bodyPr wrap="square" lIns="0" tIns="0" rIns="0" bIns="0" rtlCol="0" anchor="t">
            <a:normAutofit/>
          </a:bodyPr>
          <a:lstStyle/>
          <a:p>
            <a:pPr algn="l" indent="0" marL="0">
              <a:lnSpc>
                <a:spcPts val="11000"/>
              </a:lnSpc>
              <a:buNone/>
            </a:pPr>
            <a:r>
              <a:rPr lang="en-US" sz="11000" b="1" dirty="0">
                <a:solidFill>
                  <a:srgbClr val="B04E16"/>
                </a:solidFill>
                <a:latin typeface="Georgia" pitchFamily="18" charset="0"/>
                <a:ea typeface="Georgia" pitchFamily="18" charset="-122"/>
                <a:cs typeface="Georgia" pitchFamily="18" charset="-120"/>
              </a:rPr>
              <a:t>4</a:t>
            </a:r>
            <a:endParaRPr lang="en-US" sz="11000" dirty="0"/>
          </a:p>
        </p:txBody>
      </p:sp>
      <p:sp>
        <p:nvSpPr>
          <p:cNvPr id="5" name="Text 3"/>
          <p:cNvSpPr/>
          <p:nvPr/>
        </p:nvSpPr>
        <p:spPr>
          <a:xfrm>
            <a:off x="812800" y="3749041"/>
            <a:ext cx="2877820"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13D"/>
                </a:solidFill>
                <a:latin typeface="Arial" pitchFamily="34" charset="0"/>
                <a:ea typeface="Arial" pitchFamily="34" charset="-122"/>
                <a:cs typeface="Arial" pitchFamily="34" charset="-120"/>
              </a:rPr>
              <a:t>inconsistent versions of the same schema in the previous project</a:t>
            </a:r>
            <a:endParaRPr lang="en-US" sz="1500" dirty="0"/>
          </a:p>
        </p:txBody>
      </p:sp>
      <p:sp>
        <p:nvSpPr>
          <p:cNvPr id="6" name="Shape 4"/>
          <p:cNvSpPr/>
          <p:nvPr/>
        </p:nvSpPr>
        <p:spPr>
          <a:xfrm>
            <a:off x="4032250" y="2438082"/>
            <a:ext cx="0" cy="563880"/>
          </a:xfrm>
          <a:prstGeom prst="line">
            <a:avLst/>
          </a:prstGeom>
          <a:noFill/>
          <a:ln w="38100">
            <a:solidFill>
              <a:srgbClr val="2F5D8A"/>
            </a:solidFill>
            <a:prstDash val="solid"/>
          </a:ln>
        </p:spPr>
      </p:sp>
      <p:sp>
        <p:nvSpPr>
          <p:cNvPr id="7" name="Text 5"/>
          <p:cNvSpPr/>
          <p:nvPr/>
        </p:nvSpPr>
        <p:spPr>
          <a:xfrm>
            <a:off x="4226560" y="2463482"/>
            <a:ext cx="736721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Rules are not enforced</a:t>
            </a:r>
            <a:endParaRPr lang="en-US" sz="1600" dirty="0"/>
          </a:p>
        </p:txBody>
      </p:sp>
      <p:sp>
        <p:nvSpPr>
          <p:cNvPr id="8" name="Text 6"/>
          <p:cNvSpPr/>
          <p:nvPr/>
        </p:nvSpPr>
        <p:spPr>
          <a:xfrm>
            <a:off x="4226560" y="2745423"/>
            <a:ext cx="736721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Two main tutors, more than three reviewers, or a grade of 15 are all accepted</a:t>
            </a:r>
            <a:endParaRPr lang="en-US" sz="1300" dirty="0"/>
          </a:p>
        </p:txBody>
      </p:sp>
      <p:sp>
        <p:nvSpPr>
          <p:cNvPr id="9" name="Shape 7"/>
          <p:cNvSpPr/>
          <p:nvPr/>
        </p:nvSpPr>
        <p:spPr>
          <a:xfrm>
            <a:off x="4032250" y="3128963"/>
            <a:ext cx="0" cy="563880"/>
          </a:xfrm>
          <a:prstGeom prst="line">
            <a:avLst/>
          </a:prstGeom>
          <a:noFill/>
          <a:ln w="38100">
            <a:solidFill>
              <a:srgbClr val="2F5D8A"/>
            </a:solidFill>
            <a:prstDash val="solid"/>
          </a:ln>
        </p:spPr>
      </p:sp>
      <p:sp>
        <p:nvSpPr>
          <p:cNvPr id="10" name="Text 8"/>
          <p:cNvSpPr/>
          <p:nvPr/>
        </p:nvSpPr>
        <p:spPr>
          <a:xfrm>
            <a:off x="4226560" y="3154363"/>
            <a:ext cx="736721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No security model</a:t>
            </a:r>
            <a:endParaRPr lang="en-US" sz="1600" dirty="0"/>
          </a:p>
        </p:txBody>
      </p:sp>
      <p:sp>
        <p:nvSpPr>
          <p:cNvPr id="11" name="Text 9"/>
          <p:cNvSpPr/>
          <p:nvPr/>
        </p:nvSpPr>
        <p:spPr>
          <a:xfrm>
            <a:off x="4226560" y="3436303"/>
            <a:ext cx="736721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No users, no authentication, no role separation</a:t>
            </a:r>
            <a:endParaRPr lang="en-US" sz="1300" dirty="0"/>
          </a:p>
        </p:txBody>
      </p:sp>
      <p:sp>
        <p:nvSpPr>
          <p:cNvPr id="12" name="Shape 10"/>
          <p:cNvSpPr/>
          <p:nvPr/>
        </p:nvSpPr>
        <p:spPr>
          <a:xfrm>
            <a:off x="4032250" y="3819843"/>
            <a:ext cx="0" cy="563880"/>
          </a:xfrm>
          <a:prstGeom prst="line">
            <a:avLst/>
          </a:prstGeom>
          <a:noFill/>
          <a:ln w="38100">
            <a:solidFill>
              <a:srgbClr val="2F5D8A"/>
            </a:solidFill>
            <a:prstDash val="solid"/>
          </a:ln>
        </p:spPr>
      </p:sp>
      <p:sp>
        <p:nvSpPr>
          <p:cNvPr id="13" name="Text 11"/>
          <p:cNvSpPr/>
          <p:nvPr/>
        </p:nvSpPr>
        <p:spPr>
          <a:xfrm>
            <a:off x="4226560" y="3845243"/>
            <a:ext cx="736721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Arial" pitchFamily="34" charset="0"/>
                <a:ea typeface="Arial" pitchFamily="34" charset="-122"/>
                <a:cs typeface="Arial" pitchFamily="34" charset="-120"/>
              </a:rPr>
              <a:t>Missing pieces</a:t>
            </a:r>
            <a:endParaRPr lang="en-US" sz="1600" dirty="0"/>
          </a:p>
        </p:txBody>
      </p:sp>
      <p:sp>
        <p:nvSpPr>
          <p:cNvPr id="14" name="Text 12"/>
          <p:cNvSpPr/>
          <p:nvPr/>
        </p:nvSpPr>
        <p:spPr>
          <a:xfrm>
            <a:off x="4226560" y="4127182"/>
            <a:ext cx="736721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No audit history, no rooms, no pre-defense requirement checks</a:t>
            </a:r>
            <a:endParaRPr lang="en-US" sz="1300" dirty="0"/>
          </a:p>
        </p:txBody>
      </p:sp>
      <p:sp>
        <p:nvSpPr>
          <p:cNvPr id="15" name="Text 13"/>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Thesis Management · Project Proposal</a:t>
            </a:r>
            <a:endParaRPr lang="en-US" sz="1200" dirty="0"/>
          </a:p>
        </p:txBody>
      </p:sp>
      <p:sp>
        <p:nvSpPr>
          <p:cNvPr id="16" name="Text 1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16153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0A060"/>
                </a:solidFill>
                <a:latin typeface="Arial" pitchFamily="34" charset="0"/>
                <a:ea typeface="Arial" pitchFamily="34" charset="-122"/>
                <a:cs typeface="Arial" pitchFamily="34" charset="-120"/>
              </a:rPr>
              <a:t>GENERAL OBJECTIVE</a:t>
            </a:r>
            <a:endParaRPr lang="en-US" sz="1400" dirty="0"/>
          </a:p>
        </p:txBody>
      </p:sp>
      <p:sp>
        <p:nvSpPr>
          <p:cNvPr id="3" name="Text 1"/>
          <p:cNvSpPr/>
          <p:nvPr/>
        </p:nvSpPr>
        <p:spPr>
          <a:xfrm>
            <a:off x="812800" y="2664461"/>
            <a:ext cx="10883392" cy="2057400"/>
          </a:xfrm>
          <a:prstGeom prst="rect">
            <a:avLst/>
          </a:prstGeom>
          <a:noFill/>
          <a:ln/>
        </p:spPr>
        <p:txBody>
          <a:bodyPr wrap="square" lIns="0" tIns="0" rIns="0" bIns="0" rtlCol="0" anchor="t">
            <a:normAutofit/>
          </a:bodyPr>
          <a:lstStyle/>
          <a:p>
            <a:pPr algn="l" indent="0" marL="0">
              <a:lnSpc>
                <a:spcPts val="4000"/>
              </a:lnSpc>
              <a:buNone/>
            </a:pPr>
            <a:r>
              <a:rPr lang="en-US" sz="3200" dirty="0">
                <a:solidFill>
                  <a:srgbClr val="F7F6F2"/>
                </a:solidFill>
                <a:latin typeface="Georgia" pitchFamily="18" charset="0"/>
                <a:ea typeface="Georgia" pitchFamily="18" charset="-122"/>
                <a:cs typeface="Georgia" pitchFamily="18" charset="-120"/>
              </a:rPr>
              <a:t>Design, develop and deploy a secure, role-based web application that centralizes the thesis and graduation process, from topic registration to the final defense grade, on top of the corrected inherited database.</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6"/>
                </a:solidFill>
                <a:latin typeface="Arial" pitchFamily="34" charset="0"/>
                <a:ea typeface="Arial" pitchFamily="34" charset="-122"/>
                <a:cs typeface="Arial" pitchFamily="34" charset="-120"/>
              </a:rPr>
              <a:t>SPECIFIC OBJECTIVES</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Six objectives, from data to deployment</a:t>
            </a:r>
            <a:endParaRPr lang="en-US" sz="3200" dirty="0"/>
          </a:p>
        </p:txBody>
      </p:sp>
      <p:sp>
        <p:nvSpPr>
          <p:cNvPr id="4" name="Shape 2"/>
          <p:cNvSpPr/>
          <p:nvPr/>
        </p:nvSpPr>
        <p:spPr>
          <a:xfrm>
            <a:off x="815975" y="1806575"/>
            <a:ext cx="3414157" cy="1320165"/>
          </a:xfrm>
          <a:prstGeom prst="roundRect">
            <a:avLst>
              <a:gd name="adj" fmla="val 5532"/>
            </a:avLst>
          </a:prstGeom>
          <a:solidFill>
            <a:srgbClr val="FFFFFF"/>
          </a:solidFill>
          <a:ln w="6350">
            <a:solidFill>
              <a:srgbClr val="D9DEE6"/>
            </a:solidFill>
            <a:prstDash val="solid"/>
          </a:ln>
        </p:spPr>
      </p:sp>
      <p:sp>
        <p:nvSpPr>
          <p:cNvPr id="5" name="Text 3"/>
          <p:cNvSpPr/>
          <p:nvPr/>
        </p:nvSpPr>
        <p:spPr>
          <a:xfrm>
            <a:off x="1021080" y="1986282"/>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1 · Rule-enforcing schema</a:t>
            </a:r>
            <a:endParaRPr lang="en-US" sz="1500" dirty="0"/>
          </a:p>
        </p:txBody>
      </p:sp>
      <p:sp>
        <p:nvSpPr>
          <p:cNvPr id="6" name="Text 4"/>
          <p:cNvSpPr/>
          <p:nvPr/>
        </p:nvSpPr>
        <p:spPr>
          <a:xfrm>
            <a:off x="1021080" y="2278382"/>
            <a:ext cx="3094065"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The database guarantees one tutor, at most three reviewers and valid grades, through versioned migrations</a:t>
            </a:r>
            <a:endParaRPr lang="en-US" sz="1300" dirty="0"/>
          </a:p>
        </p:txBody>
      </p:sp>
      <p:sp>
        <p:nvSpPr>
          <p:cNvPr id="7" name="Shape 5"/>
          <p:cNvSpPr/>
          <p:nvPr/>
        </p:nvSpPr>
        <p:spPr>
          <a:xfrm>
            <a:off x="4388882" y="1806575"/>
            <a:ext cx="3414157" cy="1320165"/>
          </a:xfrm>
          <a:prstGeom prst="roundRect">
            <a:avLst>
              <a:gd name="adj" fmla="val 5532"/>
            </a:avLst>
          </a:prstGeom>
          <a:solidFill>
            <a:srgbClr val="FFFFFF"/>
          </a:solidFill>
          <a:ln w="6350">
            <a:solidFill>
              <a:srgbClr val="D9DEE6"/>
            </a:solidFill>
            <a:prstDash val="solid"/>
          </a:ln>
        </p:spPr>
      </p:sp>
      <p:sp>
        <p:nvSpPr>
          <p:cNvPr id="8" name="Text 6"/>
          <p:cNvSpPr/>
          <p:nvPr/>
        </p:nvSpPr>
        <p:spPr>
          <a:xfrm>
            <a:off x="4593987" y="1986282"/>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2 · Secure REST API</a:t>
            </a:r>
            <a:endParaRPr lang="en-US" sz="1500" dirty="0"/>
          </a:p>
        </p:txBody>
      </p:sp>
      <p:sp>
        <p:nvSpPr>
          <p:cNvPr id="9" name="Text 7"/>
          <p:cNvSpPr/>
          <p:nvPr/>
        </p:nvSpPr>
        <p:spPr>
          <a:xfrm>
            <a:off x="4593987" y="2278382"/>
            <a:ext cx="3094065"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Authentication and role-based authorization, with tutor and reviewer permissions derived per thesis</a:t>
            </a:r>
            <a:endParaRPr lang="en-US" sz="1300" dirty="0"/>
          </a:p>
        </p:txBody>
      </p:sp>
      <p:sp>
        <p:nvSpPr>
          <p:cNvPr id="10" name="Shape 8"/>
          <p:cNvSpPr/>
          <p:nvPr/>
        </p:nvSpPr>
        <p:spPr>
          <a:xfrm>
            <a:off x="7961789" y="1806575"/>
            <a:ext cx="3414157" cy="1320165"/>
          </a:xfrm>
          <a:prstGeom prst="roundRect">
            <a:avLst>
              <a:gd name="adj" fmla="val 5532"/>
            </a:avLst>
          </a:prstGeom>
          <a:solidFill>
            <a:srgbClr val="FFFFFF"/>
          </a:solidFill>
          <a:ln w="6350">
            <a:solidFill>
              <a:srgbClr val="D9DEE6"/>
            </a:solidFill>
            <a:prstDash val="solid"/>
          </a:ln>
        </p:spPr>
      </p:sp>
      <p:sp>
        <p:nvSpPr>
          <p:cNvPr id="11" name="Text 9"/>
          <p:cNvSpPr/>
          <p:nvPr/>
        </p:nvSpPr>
        <p:spPr>
          <a:xfrm>
            <a:off x="8166894" y="1986282"/>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3 · Automated workflow</a:t>
            </a:r>
            <a:endParaRPr lang="en-US" sz="1500" dirty="0"/>
          </a:p>
        </p:txBody>
      </p:sp>
      <p:sp>
        <p:nvSpPr>
          <p:cNvPr id="12" name="Text 10"/>
          <p:cNvSpPr/>
          <p:nvPr/>
        </p:nvSpPr>
        <p:spPr>
          <a:xfrm>
            <a:off x="8166894" y="2278382"/>
            <a:ext cx="3094065"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A thesis advances only when prerequisites are met, and defenses are free of room and jury conflicts</a:t>
            </a:r>
            <a:endParaRPr lang="en-US" sz="1300" dirty="0"/>
          </a:p>
        </p:txBody>
      </p:sp>
      <p:sp>
        <p:nvSpPr>
          <p:cNvPr id="13" name="Shape 11"/>
          <p:cNvSpPr/>
          <p:nvPr/>
        </p:nvSpPr>
        <p:spPr>
          <a:xfrm>
            <a:off x="815975" y="3285489"/>
            <a:ext cx="3414157" cy="1320165"/>
          </a:xfrm>
          <a:prstGeom prst="roundRect">
            <a:avLst>
              <a:gd name="adj" fmla="val 5532"/>
            </a:avLst>
          </a:prstGeom>
          <a:solidFill>
            <a:srgbClr val="FFFFFF"/>
          </a:solidFill>
          <a:ln w="6350">
            <a:solidFill>
              <a:srgbClr val="D9DEE6"/>
            </a:solidFill>
            <a:prstDash val="solid"/>
          </a:ln>
        </p:spPr>
      </p:sp>
      <p:sp>
        <p:nvSpPr>
          <p:cNvPr id="14" name="Text 12"/>
          <p:cNvSpPr/>
          <p:nvPr/>
        </p:nvSpPr>
        <p:spPr>
          <a:xfrm>
            <a:off x="1021080" y="3465196"/>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4 · Audit history</a:t>
            </a:r>
            <a:endParaRPr lang="en-US" sz="1500" dirty="0"/>
          </a:p>
        </p:txBody>
      </p:sp>
      <p:sp>
        <p:nvSpPr>
          <p:cNvPr id="15" name="Text 13"/>
          <p:cNvSpPr/>
          <p:nvPr/>
        </p:nvSpPr>
        <p:spPr>
          <a:xfrm>
            <a:off x="1021080" y="3757296"/>
            <a:ext cx="309406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Every status change records who made it and when</a:t>
            </a:r>
            <a:endParaRPr lang="en-US" sz="1300" dirty="0"/>
          </a:p>
        </p:txBody>
      </p:sp>
      <p:sp>
        <p:nvSpPr>
          <p:cNvPr id="16" name="Shape 14"/>
          <p:cNvSpPr/>
          <p:nvPr/>
        </p:nvSpPr>
        <p:spPr>
          <a:xfrm>
            <a:off x="4388882" y="3285489"/>
            <a:ext cx="3414157" cy="1320165"/>
          </a:xfrm>
          <a:prstGeom prst="roundRect">
            <a:avLst>
              <a:gd name="adj" fmla="val 5532"/>
            </a:avLst>
          </a:prstGeom>
          <a:solidFill>
            <a:srgbClr val="FFFFFF"/>
          </a:solidFill>
          <a:ln w="6350">
            <a:solidFill>
              <a:srgbClr val="D9DEE6"/>
            </a:solidFill>
            <a:prstDash val="solid"/>
          </a:ln>
        </p:spPr>
      </p:sp>
      <p:sp>
        <p:nvSpPr>
          <p:cNvPr id="17" name="Text 15"/>
          <p:cNvSpPr/>
          <p:nvPr/>
        </p:nvSpPr>
        <p:spPr>
          <a:xfrm>
            <a:off x="4593987" y="3465196"/>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5 · Interface and reports</a:t>
            </a:r>
            <a:endParaRPr lang="en-US" sz="1500" dirty="0"/>
          </a:p>
        </p:txBody>
      </p:sp>
      <p:sp>
        <p:nvSpPr>
          <p:cNvPr id="18" name="Text 16"/>
          <p:cNvSpPr/>
          <p:nvPr/>
        </p:nvSpPr>
        <p:spPr>
          <a:xfrm>
            <a:off x="4593987" y="3757296"/>
            <a:ext cx="3094065"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Role-specific views, plus reports on tutor workload, grades by school and room availability</a:t>
            </a:r>
            <a:endParaRPr lang="en-US" sz="1300" dirty="0"/>
          </a:p>
        </p:txBody>
      </p:sp>
      <p:sp>
        <p:nvSpPr>
          <p:cNvPr id="19" name="Shape 17"/>
          <p:cNvSpPr/>
          <p:nvPr/>
        </p:nvSpPr>
        <p:spPr>
          <a:xfrm>
            <a:off x="7961789" y="3285489"/>
            <a:ext cx="3414157" cy="1320165"/>
          </a:xfrm>
          <a:prstGeom prst="roundRect">
            <a:avLst>
              <a:gd name="adj" fmla="val 5532"/>
            </a:avLst>
          </a:prstGeom>
          <a:solidFill>
            <a:srgbClr val="FFFFFF"/>
          </a:solidFill>
          <a:ln w="6350">
            <a:solidFill>
              <a:srgbClr val="D9DEE6"/>
            </a:solidFill>
            <a:prstDash val="solid"/>
          </a:ln>
        </p:spPr>
      </p:sp>
      <p:sp>
        <p:nvSpPr>
          <p:cNvPr id="20" name="Text 18"/>
          <p:cNvSpPr/>
          <p:nvPr/>
        </p:nvSpPr>
        <p:spPr>
          <a:xfrm>
            <a:off x="8166894" y="3465196"/>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6 · Tested and deployed</a:t>
            </a:r>
            <a:endParaRPr lang="en-US" sz="1500" dirty="0"/>
          </a:p>
        </p:txBody>
      </p:sp>
      <p:sp>
        <p:nvSpPr>
          <p:cNvPr id="21" name="Text 19"/>
          <p:cNvSpPr/>
          <p:nvPr/>
        </p:nvSpPr>
        <p:spPr>
          <a:xfrm>
            <a:off x="8166894" y="3757296"/>
            <a:ext cx="309406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Automated and functional tests, and deployment to production</a:t>
            </a:r>
            <a:endParaRPr lang="en-US" sz="1300" dirty="0"/>
          </a:p>
        </p:txBody>
      </p:sp>
      <p:sp>
        <p:nvSpPr>
          <p:cNvPr id="22" name="Text 20"/>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Thesis Management · Project Proposal</a:t>
            </a:r>
            <a:endParaRPr lang="en-US" sz="1200" dirty="0"/>
          </a:p>
        </p:txBody>
      </p:sp>
      <p:sp>
        <p:nvSpPr>
          <p:cNvPr id="23" name="Text 2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F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6"/>
                </a:solidFill>
                <a:latin typeface="Arial" pitchFamily="34" charset="0"/>
                <a:ea typeface="Arial" pitchFamily="34" charset="-122"/>
                <a:cs typeface="Arial" pitchFamily="34" charset="-120"/>
              </a:rPr>
              <a:t>JUSTIFICATION</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Why this project is worth building</a:t>
            </a:r>
            <a:endParaRPr lang="en-US" sz="3200" dirty="0"/>
          </a:p>
        </p:txBody>
      </p:sp>
      <p:sp>
        <p:nvSpPr>
          <p:cNvPr id="4" name="Shape 2"/>
          <p:cNvSpPr/>
          <p:nvPr/>
        </p:nvSpPr>
        <p:spPr>
          <a:xfrm>
            <a:off x="812800" y="1854200"/>
            <a:ext cx="3386614" cy="2311400"/>
          </a:xfrm>
          <a:prstGeom prst="roundRect">
            <a:avLst>
              <a:gd name="adj" fmla="val 3297"/>
            </a:avLst>
          </a:prstGeom>
          <a:solidFill>
            <a:srgbClr val="FFFFFF"/>
          </a:solidFill>
          <a:ln/>
        </p:spPr>
      </p:sp>
      <p:pic>
        <p:nvPicPr>
          <p:cNvPr id="5" name="Image 0" descr="Warning">    </p:cNvPr>
          <p:cNvPicPr>
            <a:picLocks noChangeAspect="1"/>
          </p:cNvPicPr>
          <p:nvPr/>
        </p:nvPicPr>
        <p:blipFill>
          <a:blip r:embed="rId1"/>
          <a:srcRect l="0" r="0" t="0" b="0"/>
          <a:stretch/>
        </p:blipFill>
        <p:spPr>
          <a:xfrm>
            <a:off x="1066800" y="2108200"/>
            <a:ext cx="330200" cy="330200"/>
          </a:xfrm>
          <a:prstGeom prst="rect">
            <a:avLst/>
          </a:prstGeom>
        </p:spPr>
      </p:pic>
      <p:sp>
        <p:nvSpPr>
          <p:cNvPr id="6" name="Text 3"/>
          <p:cNvSpPr/>
          <p:nvPr/>
        </p:nvSpPr>
        <p:spPr>
          <a:xfrm>
            <a:off x="1066800" y="2540000"/>
            <a:ext cx="296497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Relevant</a:t>
            </a:r>
            <a:endParaRPr lang="en-US" sz="1800" dirty="0"/>
          </a:p>
        </p:txBody>
      </p:sp>
      <p:sp>
        <p:nvSpPr>
          <p:cNvPr id="7" name="Text 4"/>
          <p:cNvSpPr/>
          <p:nvPr/>
        </p:nvSpPr>
        <p:spPr>
          <a:xfrm>
            <a:off x="1066800" y="2915921"/>
            <a:ext cx="2964972"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Errors cost postponed defenses and repeated paperwork. Regulation also demands proof that each requirement was checked.</a:t>
            </a:r>
            <a:endParaRPr lang="en-US" sz="1400" dirty="0"/>
          </a:p>
        </p:txBody>
      </p:sp>
      <p:sp>
        <p:nvSpPr>
          <p:cNvPr id="8" name="Shape 5"/>
          <p:cNvSpPr/>
          <p:nvPr/>
        </p:nvSpPr>
        <p:spPr>
          <a:xfrm>
            <a:off x="4402614" y="1854200"/>
            <a:ext cx="3386693" cy="2311400"/>
          </a:xfrm>
          <a:prstGeom prst="roundRect">
            <a:avLst>
              <a:gd name="adj" fmla="val 3297"/>
            </a:avLst>
          </a:prstGeom>
          <a:solidFill>
            <a:srgbClr val="FFFFFF"/>
          </a:solidFill>
          <a:ln/>
        </p:spPr>
      </p:sp>
      <p:pic>
        <p:nvPicPr>
          <p:cNvPr id="9" name="Image 1" descr="Users">    </p:cNvPr>
          <p:cNvPicPr>
            <a:picLocks noChangeAspect="1"/>
          </p:cNvPicPr>
          <p:nvPr/>
        </p:nvPicPr>
        <p:blipFill>
          <a:blip r:embed="rId2"/>
          <a:srcRect l="0" r="0" t="0" b="0"/>
          <a:stretch/>
        </p:blipFill>
        <p:spPr>
          <a:xfrm>
            <a:off x="4656614" y="2108200"/>
            <a:ext cx="330200" cy="330200"/>
          </a:xfrm>
          <a:prstGeom prst="rect">
            <a:avLst/>
          </a:prstGeom>
        </p:spPr>
      </p:pic>
      <p:sp>
        <p:nvSpPr>
          <p:cNvPr id="10" name="Text 6"/>
          <p:cNvSpPr/>
          <p:nvPr/>
        </p:nvSpPr>
        <p:spPr>
          <a:xfrm>
            <a:off x="4656614" y="2540000"/>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Useful</a:t>
            </a:r>
            <a:endParaRPr lang="en-US" sz="1800" dirty="0"/>
          </a:p>
        </p:txBody>
      </p:sp>
      <p:sp>
        <p:nvSpPr>
          <p:cNvPr id="11" name="Text 7"/>
          <p:cNvSpPr/>
          <p:nvPr/>
        </p:nvSpPr>
        <p:spPr>
          <a:xfrm>
            <a:off x="4656614" y="2915921"/>
            <a:ext cx="2965054"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One source of truth. Students see what is missing, professors act only on their theses, and staff schedule without conflicts.</a:t>
            </a:r>
            <a:endParaRPr lang="en-US" sz="1400" dirty="0"/>
          </a:p>
        </p:txBody>
      </p:sp>
      <p:sp>
        <p:nvSpPr>
          <p:cNvPr id="12" name="Shape 8"/>
          <p:cNvSpPr/>
          <p:nvPr/>
        </p:nvSpPr>
        <p:spPr>
          <a:xfrm>
            <a:off x="7992507" y="1854200"/>
            <a:ext cx="3386693" cy="2311400"/>
          </a:xfrm>
          <a:prstGeom prst="roundRect">
            <a:avLst>
              <a:gd name="adj" fmla="val 3297"/>
            </a:avLst>
          </a:prstGeom>
          <a:solidFill>
            <a:srgbClr val="FFFFFF"/>
          </a:solidFill>
          <a:ln/>
        </p:spPr>
      </p:sp>
      <p:pic>
        <p:nvPicPr>
          <p:cNvPr id="13" name="Image 2" descr="GraduationCap">    </p:cNvPr>
          <p:cNvPicPr>
            <a:picLocks noChangeAspect="1"/>
          </p:cNvPicPr>
          <p:nvPr/>
        </p:nvPicPr>
        <p:blipFill>
          <a:blip r:embed="rId3"/>
          <a:srcRect l="0" r="0" t="0" b="0"/>
          <a:stretch/>
        </p:blipFill>
        <p:spPr>
          <a:xfrm>
            <a:off x="8246507" y="2108200"/>
            <a:ext cx="330200" cy="330200"/>
          </a:xfrm>
          <a:prstGeom prst="rect">
            <a:avLst/>
          </a:prstGeom>
        </p:spPr>
      </p:pic>
      <p:sp>
        <p:nvSpPr>
          <p:cNvPr id="14" name="Text 9"/>
          <p:cNvSpPr/>
          <p:nvPr/>
        </p:nvSpPr>
        <p:spPr>
          <a:xfrm>
            <a:off x="8246507" y="2540000"/>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Arial" pitchFamily="34" charset="0"/>
                <a:ea typeface="Arial" pitchFamily="34" charset="-122"/>
                <a:cs typeface="Arial" pitchFamily="34" charset="-120"/>
              </a:rPr>
              <a:t>Formative</a:t>
            </a:r>
            <a:endParaRPr lang="en-US" sz="1800" dirty="0"/>
          </a:p>
        </p:txBody>
      </p:sp>
      <p:sp>
        <p:nvSpPr>
          <p:cNvPr id="15" name="Text 10"/>
          <p:cNvSpPr/>
          <p:nvPr/>
        </p:nvSpPr>
        <p:spPr>
          <a:xfrm>
            <a:off x="8246507" y="2915921"/>
            <a:ext cx="2965054"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Arial" pitchFamily="34" charset="0"/>
                <a:ea typeface="Arial" pitchFamily="34" charset="-122"/>
                <a:cs typeface="Arial" pitchFamily="34" charset="-120"/>
              </a:rPr>
              <a:t>It covers the full web-application life cycle with a real client, and it continues the previous course’s work instead of discarding it.</a:t>
            </a:r>
            <a:endParaRPr lang="en-US" sz="1400" dirty="0"/>
          </a:p>
        </p:txBody>
      </p:sp>
      <p:sp>
        <p:nvSpPr>
          <p:cNvPr id="16" name="Text 11"/>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Thesis Management · Project Proposal</a:t>
            </a:r>
            <a:endParaRPr lang="en-US" sz="1200" dirty="0"/>
          </a:p>
        </p:txBody>
      </p:sp>
      <p:sp>
        <p:nvSpPr>
          <p:cNvPr id="17" name="Text 1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6"/>
                </a:solidFill>
                <a:latin typeface="Arial" pitchFamily="34" charset="0"/>
                <a:ea typeface="Arial" pitchFamily="34" charset="-122"/>
                <a:cs typeface="Arial" pitchFamily="34" charset="-120"/>
              </a:rPr>
              <a:t>TECHNICAL BACKGROUND</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Six concepts the system is built on</a:t>
            </a:r>
            <a:endParaRPr lang="en-US" sz="3200" dirty="0"/>
          </a:p>
        </p:txBody>
      </p:sp>
      <p:sp>
        <p:nvSpPr>
          <p:cNvPr id="4" name="Shape 2"/>
          <p:cNvSpPr/>
          <p:nvPr/>
        </p:nvSpPr>
        <p:spPr>
          <a:xfrm>
            <a:off x="815975" y="1806575"/>
            <a:ext cx="3414157" cy="1148080"/>
          </a:xfrm>
          <a:prstGeom prst="roundRect">
            <a:avLst>
              <a:gd name="adj" fmla="val 6361"/>
            </a:avLst>
          </a:prstGeom>
          <a:solidFill>
            <a:srgbClr val="FFFFFF"/>
          </a:solidFill>
          <a:ln w="6350">
            <a:solidFill>
              <a:srgbClr val="D9DEE6"/>
            </a:solidFill>
            <a:prstDash val="solid"/>
          </a:ln>
        </p:spPr>
      </p:sp>
      <p:pic>
        <p:nvPicPr>
          <p:cNvPr id="5" name="Image 0" descr="Database">    </p:cNvPr>
          <p:cNvPicPr>
            <a:picLocks noChangeAspect="1"/>
          </p:cNvPicPr>
          <p:nvPr/>
        </p:nvPicPr>
        <p:blipFill>
          <a:blip r:embed="rId1"/>
          <a:srcRect l="0" r="0" t="0" b="0"/>
          <a:stretch/>
        </p:blipFill>
        <p:spPr>
          <a:xfrm>
            <a:off x="1021080" y="1986282"/>
            <a:ext cx="279400" cy="279400"/>
          </a:xfrm>
          <a:prstGeom prst="rect">
            <a:avLst/>
          </a:prstGeom>
        </p:spPr>
      </p:pic>
      <p:sp>
        <p:nvSpPr>
          <p:cNvPr id="6" name="Text 3"/>
          <p:cNvSpPr/>
          <p:nvPr/>
        </p:nvSpPr>
        <p:spPr>
          <a:xfrm>
            <a:off x="1402080" y="2011682"/>
            <a:ext cx="20577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Relational integrity</a:t>
            </a:r>
            <a:endParaRPr lang="en-US" sz="1500" dirty="0"/>
          </a:p>
        </p:txBody>
      </p:sp>
      <p:sp>
        <p:nvSpPr>
          <p:cNvPr id="7" name="Text 4"/>
          <p:cNvSpPr/>
          <p:nvPr/>
        </p:nvSpPr>
        <p:spPr>
          <a:xfrm>
            <a:off x="1021080" y="2329182"/>
            <a:ext cx="309406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Keys, CHECK constraints and triggers in MySQL 8 enforce the rules</a:t>
            </a:r>
            <a:endParaRPr lang="en-US" sz="1300" dirty="0"/>
          </a:p>
        </p:txBody>
      </p:sp>
      <p:sp>
        <p:nvSpPr>
          <p:cNvPr id="8" name="Shape 5"/>
          <p:cNvSpPr/>
          <p:nvPr/>
        </p:nvSpPr>
        <p:spPr>
          <a:xfrm>
            <a:off x="4388882" y="1806575"/>
            <a:ext cx="3414157" cy="1148080"/>
          </a:xfrm>
          <a:prstGeom prst="roundRect">
            <a:avLst>
              <a:gd name="adj" fmla="val 6361"/>
            </a:avLst>
          </a:prstGeom>
          <a:solidFill>
            <a:srgbClr val="FFFFFF"/>
          </a:solidFill>
          <a:ln w="6350">
            <a:solidFill>
              <a:srgbClr val="D9DEE6"/>
            </a:solidFill>
            <a:prstDash val="solid"/>
          </a:ln>
        </p:spPr>
      </p:sp>
      <p:pic>
        <p:nvPicPr>
          <p:cNvPr id="9" name="Image 1" descr="Settings">    </p:cNvPr>
          <p:cNvPicPr>
            <a:picLocks noChangeAspect="1"/>
          </p:cNvPicPr>
          <p:nvPr/>
        </p:nvPicPr>
        <p:blipFill>
          <a:blip r:embed="rId2"/>
          <a:srcRect l="0" r="0" t="0" b="0"/>
          <a:stretch/>
        </p:blipFill>
        <p:spPr>
          <a:xfrm>
            <a:off x="4593987" y="1986282"/>
            <a:ext cx="279400" cy="279400"/>
          </a:xfrm>
          <a:prstGeom prst="rect">
            <a:avLst/>
          </a:prstGeom>
        </p:spPr>
      </p:pic>
      <p:sp>
        <p:nvSpPr>
          <p:cNvPr id="10" name="Text 6"/>
          <p:cNvSpPr/>
          <p:nvPr/>
        </p:nvSpPr>
        <p:spPr>
          <a:xfrm>
            <a:off x="4974987" y="2011682"/>
            <a:ext cx="115576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Migrations</a:t>
            </a:r>
            <a:endParaRPr lang="en-US" sz="1500" dirty="0"/>
          </a:p>
        </p:txBody>
      </p:sp>
      <p:sp>
        <p:nvSpPr>
          <p:cNvPr id="11" name="Text 7"/>
          <p:cNvSpPr/>
          <p:nvPr/>
        </p:nvSpPr>
        <p:spPr>
          <a:xfrm>
            <a:off x="4593987" y="2329182"/>
            <a:ext cx="309406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SQLAlchemy and Alembic evolve the schema in versioned, reversible steps</a:t>
            </a:r>
            <a:endParaRPr lang="en-US" sz="1300" dirty="0"/>
          </a:p>
        </p:txBody>
      </p:sp>
      <p:sp>
        <p:nvSpPr>
          <p:cNvPr id="12" name="Shape 8"/>
          <p:cNvSpPr/>
          <p:nvPr/>
        </p:nvSpPr>
        <p:spPr>
          <a:xfrm>
            <a:off x="7961789" y="1806575"/>
            <a:ext cx="3414157" cy="1148080"/>
          </a:xfrm>
          <a:prstGeom prst="roundRect">
            <a:avLst>
              <a:gd name="adj" fmla="val 6361"/>
            </a:avLst>
          </a:prstGeom>
          <a:solidFill>
            <a:srgbClr val="FFFFFF"/>
          </a:solidFill>
          <a:ln w="6350">
            <a:solidFill>
              <a:srgbClr val="D9DEE6"/>
            </a:solidFill>
            <a:prstDash val="solid"/>
          </a:ln>
        </p:spPr>
      </p:sp>
      <p:pic>
        <p:nvPicPr>
          <p:cNvPr id="13" name="Image 2" descr="Code">    </p:cNvPr>
          <p:cNvPicPr>
            <a:picLocks noChangeAspect="1"/>
          </p:cNvPicPr>
          <p:nvPr/>
        </p:nvPicPr>
        <p:blipFill>
          <a:blip r:embed="rId3"/>
          <a:srcRect l="0" r="0" t="0" b="0"/>
          <a:stretch/>
        </p:blipFill>
        <p:spPr>
          <a:xfrm>
            <a:off x="8166894" y="1986282"/>
            <a:ext cx="279400" cy="279400"/>
          </a:xfrm>
          <a:prstGeom prst="rect">
            <a:avLst/>
          </a:prstGeom>
        </p:spPr>
      </p:pic>
      <p:sp>
        <p:nvSpPr>
          <p:cNvPr id="14" name="Text 9"/>
          <p:cNvSpPr/>
          <p:nvPr/>
        </p:nvSpPr>
        <p:spPr>
          <a:xfrm>
            <a:off x="8547894" y="2011682"/>
            <a:ext cx="20449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REST with FastAPI</a:t>
            </a:r>
            <a:endParaRPr lang="en-US" sz="1500" dirty="0"/>
          </a:p>
        </p:txBody>
      </p:sp>
      <p:sp>
        <p:nvSpPr>
          <p:cNvPr id="15" name="Text 10"/>
          <p:cNvSpPr/>
          <p:nvPr/>
        </p:nvSpPr>
        <p:spPr>
          <a:xfrm>
            <a:off x="8166894" y="2329182"/>
            <a:ext cx="309406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Resources over HTTP and JSON, with typed validation and OpenAPI docs</a:t>
            </a:r>
            <a:endParaRPr lang="en-US" sz="1300" dirty="0"/>
          </a:p>
        </p:txBody>
      </p:sp>
      <p:sp>
        <p:nvSpPr>
          <p:cNvPr id="16" name="Shape 11"/>
          <p:cNvSpPr/>
          <p:nvPr/>
        </p:nvSpPr>
        <p:spPr>
          <a:xfrm>
            <a:off x="815975" y="3113407"/>
            <a:ext cx="3414157" cy="1370965"/>
          </a:xfrm>
          <a:prstGeom prst="roundRect">
            <a:avLst>
              <a:gd name="adj" fmla="val 5327"/>
            </a:avLst>
          </a:prstGeom>
          <a:solidFill>
            <a:srgbClr val="FFFFFF"/>
          </a:solidFill>
          <a:ln w="6350">
            <a:solidFill>
              <a:srgbClr val="D9DEE6"/>
            </a:solidFill>
            <a:prstDash val="solid"/>
          </a:ln>
        </p:spPr>
      </p:sp>
      <p:pic>
        <p:nvPicPr>
          <p:cNvPr id="17" name="Image 3" descr="Lock">    </p:cNvPr>
          <p:cNvPicPr>
            <a:picLocks noChangeAspect="1"/>
          </p:cNvPicPr>
          <p:nvPr/>
        </p:nvPicPr>
        <p:blipFill>
          <a:blip r:embed="rId4"/>
          <a:srcRect l="0" r="0" t="0" b="0"/>
          <a:stretch/>
        </p:blipFill>
        <p:spPr>
          <a:xfrm>
            <a:off x="1021080" y="3293111"/>
            <a:ext cx="279400" cy="279400"/>
          </a:xfrm>
          <a:prstGeom prst="rect">
            <a:avLst/>
          </a:prstGeom>
        </p:spPr>
      </p:pic>
      <p:sp>
        <p:nvSpPr>
          <p:cNvPr id="18" name="Text 12"/>
          <p:cNvSpPr/>
          <p:nvPr/>
        </p:nvSpPr>
        <p:spPr>
          <a:xfrm>
            <a:off x="1402080" y="3318511"/>
            <a:ext cx="1676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JWT and RBAC</a:t>
            </a:r>
            <a:endParaRPr lang="en-US" sz="1500" dirty="0"/>
          </a:p>
        </p:txBody>
      </p:sp>
      <p:sp>
        <p:nvSpPr>
          <p:cNvPr id="19" name="Text 13"/>
          <p:cNvSpPr/>
          <p:nvPr/>
        </p:nvSpPr>
        <p:spPr>
          <a:xfrm>
            <a:off x="1021080" y="3636011"/>
            <a:ext cx="3094065"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Signed tokens and role-based access control, checked against OWASP API Top 10</a:t>
            </a:r>
            <a:endParaRPr lang="en-US" sz="1300" dirty="0"/>
          </a:p>
        </p:txBody>
      </p:sp>
      <p:sp>
        <p:nvSpPr>
          <p:cNvPr id="20" name="Shape 14"/>
          <p:cNvSpPr/>
          <p:nvPr/>
        </p:nvSpPr>
        <p:spPr>
          <a:xfrm>
            <a:off x="4388882" y="3113407"/>
            <a:ext cx="3414157" cy="1370965"/>
          </a:xfrm>
          <a:prstGeom prst="roundRect">
            <a:avLst>
              <a:gd name="adj" fmla="val 5327"/>
            </a:avLst>
          </a:prstGeom>
          <a:solidFill>
            <a:srgbClr val="FFFFFF"/>
          </a:solidFill>
          <a:ln w="6350">
            <a:solidFill>
              <a:srgbClr val="D9DEE6"/>
            </a:solidFill>
            <a:prstDash val="solid"/>
          </a:ln>
        </p:spPr>
      </p:sp>
      <p:pic>
        <p:nvPicPr>
          <p:cNvPr id="21" name="Image 4" descr="Globe">    </p:cNvPr>
          <p:cNvPicPr>
            <a:picLocks noChangeAspect="1"/>
          </p:cNvPicPr>
          <p:nvPr/>
        </p:nvPicPr>
        <p:blipFill>
          <a:blip r:embed="rId5"/>
          <a:srcRect l="0" r="0" t="0" b="0"/>
          <a:stretch/>
        </p:blipFill>
        <p:spPr>
          <a:xfrm>
            <a:off x="4593987" y="3293111"/>
            <a:ext cx="279400" cy="279400"/>
          </a:xfrm>
          <a:prstGeom prst="rect">
            <a:avLst/>
          </a:prstGeom>
        </p:spPr>
      </p:pic>
      <p:sp>
        <p:nvSpPr>
          <p:cNvPr id="22" name="Text 15"/>
          <p:cNvSpPr/>
          <p:nvPr/>
        </p:nvSpPr>
        <p:spPr>
          <a:xfrm>
            <a:off x="4974987" y="3318511"/>
            <a:ext cx="17655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Single-page app</a:t>
            </a:r>
            <a:endParaRPr lang="en-US" sz="1500" dirty="0"/>
          </a:p>
        </p:txBody>
      </p:sp>
      <p:sp>
        <p:nvSpPr>
          <p:cNvPr id="23" name="Text 16"/>
          <p:cNvSpPr/>
          <p:nvPr/>
        </p:nvSpPr>
        <p:spPr>
          <a:xfrm>
            <a:off x="4593987" y="3636011"/>
            <a:ext cx="309406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A browser client decoupled from the API, built and deployed on its own</a:t>
            </a:r>
            <a:endParaRPr lang="en-US" sz="1300" dirty="0"/>
          </a:p>
        </p:txBody>
      </p:sp>
      <p:sp>
        <p:nvSpPr>
          <p:cNvPr id="24" name="Shape 17"/>
          <p:cNvSpPr/>
          <p:nvPr/>
        </p:nvSpPr>
        <p:spPr>
          <a:xfrm>
            <a:off x="7961789" y="3113407"/>
            <a:ext cx="3414157" cy="1370965"/>
          </a:xfrm>
          <a:prstGeom prst="roundRect">
            <a:avLst>
              <a:gd name="adj" fmla="val 5327"/>
            </a:avLst>
          </a:prstGeom>
          <a:solidFill>
            <a:srgbClr val="FFFFFF"/>
          </a:solidFill>
          <a:ln w="6350">
            <a:solidFill>
              <a:srgbClr val="D9DEE6"/>
            </a:solidFill>
            <a:prstDash val="solid"/>
          </a:ln>
        </p:spPr>
      </p:sp>
      <p:pic>
        <p:nvPicPr>
          <p:cNvPr id="25" name="Image 5" descr="Clock">    </p:cNvPr>
          <p:cNvPicPr>
            <a:picLocks noChangeAspect="1"/>
          </p:cNvPicPr>
          <p:nvPr/>
        </p:nvPicPr>
        <p:blipFill>
          <a:blip r:embed="rId6"/>
          <a:srcRect l="0" r="0" t="0" b="0"/>
          <a:stretch/>
        </p:blipFill>
        <p:spPr>
          <a:xfrm>
            <a:off x="8166894" y="3293111"/>
            <a:ext cx="279400" cy="279400"/>
          </a:xfrm>
          <a:prstGeom prst="rect">
            <a:avLst/>
          </a:prstGeom>
        </p:spPr>
      </p:pic>
      <p:sp>
        <p:nvSpPr>
          <p:cNvPr id="26" name="Text 18"/>
          <p:cNvSpPr/>
          <p:nvPr/>
        </p:nvSpPr>
        <p:spPr>
          <a:xfrm>
            <a:off x="8547894" y="3318511"/>
            <a:ext cx="14097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Audit history</a:t>
            </a:r>
            <a:endParaRPr lang="en-US" sz="1500" dirty="0"/>
          </a:p>
        </p:txBody>
      </p:sp>
      <p:sp>
        <p:nvSpPr>
          <p:cNvPr id="27" name="Text 19"/>
          <p:cNvSpPr/>
          <p:nvPr/>
        </p:nvSpPr>
        <p:spPr>
          <a:xfrm>
            <a:off x="8166894" y="3636011"/>
            <a:ext cx="309406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Immutable status records written in the same transaction as the change</a:t>
            </a:r>
            <a:endParaRPr lang="en-US" sz="1300" dirty="0"/>
          </a:p>
        </p:txBody>
      </p:sp>
      <p:sp>
        <p:nvSpPr>
          <p:cNvPr id="28" name="Text 20"/>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Thesis Management · Project Proposal</a:t>
            </a:r>
            <a:endParaRPr lang="en-US" sz="1200" dirty="0"/>
          </a:p>
        </p:txBody>
      </p:sp>
      <p:sp>
        <p:nvSpPr>
          <p:cNvPr id="29" name="Text 2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6"/>
                </a:solidFill>
                <a:latin typeface="Arial" pitchFamily="34" charset="0"/>
                <a:ea typeface="Arial" pitchFamily="34" charset="-122"/>
                <a:cs typeface="Arial" pitchFamily="34" charset="-120"/>
              </a:rPr>
              <a:t>ACCESS MODEL</a:t>
            </a:r>
            <a:endParaRPr lang="en-US" sz="1200" dirty="0"/>
          </a:p>
        </p:txBody>
      </p:sp>
      <p:sp>
        <p:nvSpPr>
          <p:cNvPr id="3" name="Text 1"/>
          <p:cNvSpPr/>
          <p:nvPr>
            <p:ph type="title"/>
          </p:nvPr>
        </p:nvSpPr>
        <p:spPr>
          <a:xfrm>
            <a:off x="812800" y="1102364"/>
            <a:ext cx="11379200"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Roles are global; tutor and reviewer are per thesis</a:t>
            </a:r>
            <a:endParaRPr lang="en-US" sz="3200" dirty="0"/>
          </a:p>
        </p:txBody>
      </p:sp>
      <p:sp>
        <p:nvSpPr>
          <p:cNvPr id="4" name="Text 2"/>
          <p:cNvSpPr/>
          <p:nvPr/>
        </p:nvSpPr>
        <p:spPr>
          <a:xfrm>
            <a:off x="812800" y="1854200"/>
            <a:ext cx="340106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Arial" pitchFamily="34" charset="0"/>
                <a:ea typeface="Arial" pitchFamily="34" charset="-122"/>
                <a:cs typeface="Arial" pitchFamily="34" charset="-120"/>
              </a:rPr>
              <a:t>Three global roles</a:t>
            </a:r>
            <a:endParaRPr lang="en-US" sz="1400" dirty="0"/>
          </a:p>
        </p:txBody>
      </p:sp>
      <p:sp>
        <p:nvSpPr>
          <p:cNvPr id="5" name="Text 3"/>
          <p:cNvSpPr/>
          <p:nvPr/>
        </p:nvSpPr>
        <p:spPr>
          <a:xfrm>
            <a:off x="812800" y="2230121"/>
            <a:ext cx="3302000" cy="452120"/>
          </a:xfrm>
          <a:prstGeom prst="roundRect">
            <a:avLst>
              <a:gd name="adj" fmla="val 16854"/>
            </a:avLst>
          </a:prstGeom>
          <a:solidFill>
            <a:srgbClr val="14213D"/>
          </a:solidFill>
          <a:ln/>
        </p:spPr>
        <p:txBody>
          <a:bodyPr wrap="square" lIns="155482" tIns="79282" rIns="67090" bIns="53882"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Administrator</a:t>
            </a:r>
            <a:endParaRPr lang="en-US" sz="1400" dirty="0"/>
          </a:p>
        </p:txBody>
      </p:sp>
      <p:sp>
        <p:nvSpPr>
          <p:cNvPr id="6" name="Text 4"/>
          <p:cNvSpPr/>
          <p:nvPr/>
        </p:nvSpPr>
        <p:spPr>
          <a:xfrm>
            <a:off x="812800" y="2809242"/>
            <a:ext cx="3302000" cy="452120"/>
          </a:xfrm>
          <a:prstGeom prst="roundRect">
            <a:avLst>
              <a:gd name="adj" fmla="val 16854"/>
            </a:avLst>
          </a:prstGeom>
          <a:solidFill>
            <a:srgbClr val="2F5D8A"/>
          </a:solidFill>
          <a:ln/>
        </p:spPr>
        <p:txBody>
          <a:bodyPr wrap="square" lIns="155482" tIns="79282" rIns="67090" bIns="53882" rtlCol="0" anchor="t">
            <a:normAutofit/>
          </a:bodyPr>
          <a:lstStyle/>
          <a:p>
            <a:pPr algn="l" indent="0" marL="0">
              <a:lnSpc>
                <a:spcPts val="1960"/>
              </a:lnSpc>
              <a:buNone/>
            </a:pPr>
            <a:r>
              <a:rPr lang="en-US" sz="1400" dirty="0">
                <a:solidFill>
                  <a:srgbClr val="F7F6F2"/>
                </a:solidFill>
                <a:latin typeface="Arial" pitchFamily="34" charset="0"/>
                <a:ea typeface="Arial" pitchFamily="34" charset="-122"/>
                <a:cs typeface="Arial" pitchFamily="34" charset="-120"/>
              </a:rPr>
              <a:t>Professor</a:t>
            </a:r>
            <a:endParaRPr lang="en-US" sz="1400" dirty="0"/>
          </a:p>
        </p:txBody>
      </p:sp>
      <p:sp>
        <p:nvSpPr>
          <p:cNvPr id="7" name="Text 5"/>
          <p:cNvSpPr/>
          <p:nvPr/>
        </p:nvSpPr>
        <p:spPr>
          <a:xfrm>
            <a:off x="815975" y="3391539"/>
            <a:ext cx="3295650" cy="455930"/>
          </a:xfrm>
          <a:prstGeom prst="roundRect">
            <a:avLst>
              <a:gd name="adj" fmla="val 16017"/>
            </a:avLst>
          </a:prstGeom>
          <a:solidFill>
            <a:srgbClr val="FFFFFF"/>
          </a:solidFill>
          <a:ln w="6350">
            <a:solidFill>
              <a:srgbClr val="D9DEE6"/>
            </a:solidFill>
            <a:prstDash val="solid"/>
          </a:ln>
        </p:spPr>
        <p:txBody>
          <a:bodyPr wrap="square" lIns="158317" tIns="82117" rIns="70230" bIns="56717" rtlCol="0" anchor="t">
            <a:normAutofit/>
          </a:bodyPr>
          <a:lstStyle/>
          <a:p>
            <a:pPr algn="l" indent="0" marL="0">
              <a:lnSpc>
                <a:spcPts val="1960"/>
              </a:lnSpc>
              <a:buNone/>
            </a:pPr>
            <a:r>
              <a:rPr lang="en-US" sz="1400" dirty="0">
                <a:solidFill>
                  <a:srgbClr val="14213D"/>
                </a:solidFill>
                <a:latin typeface="Arial" pitchFamily="34" charset="0"/>
                <a:ea typeface="Arial" pitchFamily="34" charset="-122"/>
                <a:cs typeface="Arial" pitchFamily="34" charset="-120"/>
              </a:rPr>
              <a:t>Student</a:t>
            </a:r>
            <a:endParaRPr lang="en-US" sz="1400" dirty="0"/>
          </a:p>
        </p:txBody>
      </p:sp>
      <p:sp>
        <p:nvSpPr>
          <p:cNvPr id="8" name="Text 6"/>
          <p:cNvSpPr/>
          <p:nvPr/>
        </p:nvSpPr>
        <p:spPr>
          <a:xfrm>
            <a:off x="4470400" y="1854200"/>
            <a:ext cx="711606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Arial" pitchFamily="34" charset="0"/>
                <a:ea typeface="Arial" pitchFamily="34" charset="-122"/>
                <a:cs typeface="Arial" pitchFamily="34" charset="-120"/>
              </a:rPr>
              <a:t>Permissions come from each thesis’s assignments</a:t>
            </a:r>
            <a:endParaRPr lang="en-US" sz="1400" dirty="0"/>
          </a:p>
        </p:txBody>
      </p:sp>
      <p:sp>
        <p:nvSpPr>
          <p:cNvPr id="9" name="Shape 7"/>
          <p:cNvSpPr/>
          <p:nvPr/>
        </p:nvSpPr>
        <p:spPr>
          <a:xfrm>
            <a:off x="4470400" y="2230121"/>
            <a:ext cx="6908800" cy="1544320"/>
          </a:xfrm>
          <a:prstGeom prst="rect">
            <a:avLst/>
          </a:prstGeom>
          <a:solidFill>
            <a:srgbClr val="FFFFFF"/>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480560" y="2240281"/>
          <a:ext cx="6898640" cy="1534160"/>
        </p:xfrm>
        <a:graphic>
          <a:graphicData uri="http://schemas.openxmlformats.org/drawingml/2006/table">
            <a:tbl>
              <a:tblPr/>
              <a:tblGrid>
                <a:gridCol w="1931619"/>
                <a:gridCol w="1655674"/>
                <a:gridCol w="1655674"/>
                <a:gridCol w="1655674"/>
              </a:tblGrid>
              <a:tr h="383540">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Professor</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Thesis 1</a:t>
                      </a:r>
                      <a:endParaRPr lang="en-US" sz="1400" dirty="0">
                        <a:latin typeface="Arial" charset="0"/>
                        <a:ea typeface="Arial" charset="0"/>
                        <a:cs typeface="Arial"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Thesis 2</a:t>
                      </a:r>
                      <a:endParaRPr lang="en-US" sz="1400" dirty="0">
                        <a:latin typeface="Arial" charset="0"/>
                        <a:ea typeface="Arial" charset="0"/>
                        <a:cs typeface="Arial"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4213D"/>
                          </a:solidFill>
                          <a:latin typeface="Arial" pitchFamily="34" charset="0"/>
                          <a:ea typeface="Arial" pitchFamily="34" charset="-122"/>
                          <a:cs typeface="Arial" pitchFamily="34" charset="-120"/>
                        </a:rPr>
                        <a:t>Thesis 3</a:t>
                      </a:r>
                      <a:endParaRPr lang="en-US" sz="1400" dirty="0">
                        <a:latin typeface="Arial" charset="0"/>
                        <a:ea typeface="Arial" charset="0"/>
                        <a:cs typeface="Arial"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3540">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Prof. A</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Tutor</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Reviewer</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Prof. B</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President</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Tutor</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Reviewer</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Prof. C</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Reviewer</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Arial" pitchFamily="34" charset="0"/>
                          <a:ea typeface="Arial" pitchFamily="34" charset="-122"/>
                          <a:cs typeface="Arial" pitchFamily="34" charset="-120"/>
                        </a:rPr>
                        <a:t>Co-tutor</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1" name="Text 8"/>
          <p:cNvSpPr/>
          <p:nvPr/>
        </p:nvSpPr>
        <p:spPr>
          <a:xfrm>
            <a:off x="4470400" y="3901442"/>
            <a:ext cx="711606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Arial" pitchFamily="34" charset="0"/>
                <a:ea typeface="Arial" pitchFamily="34" charset="-122"/>
                <a:cs typeface="Arial" pitchFamily="34" charset="-120"/>
              </a:rPr>
              <a:t>A user who is not assigned to a thesis can neither read nor change it, which blocks broken object-level authorization.</a:t>
            </a:r>
            <a:endParaRPr lang="en-US" sz="1300" dirty="0"/>
          </a:p>
        </p:txBody>
      </p:sp>
      <p:sp>
        <p:nvSpPr>
          <p:cNvPr id="12" name="Text 9"/>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Thesis Management · Project Proposal</a:t>
            </a:r>
            <a:endParaRPr lang="en-US" sz="1200" dirty="0"/>
          </a:p>
        </p:txBody>
      </p:sp>
      <p:sp>
        <p:nvSpPr>
          <p:cNvPr id="13" name="Text 1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6"/>
                </a:solidFill>
                <a:latin typeface="Arial" pitchFamily="34" charset="0"/>
                <a:ea typeface="Arial" pitchFamily="34" charset="-122"/>
                <a:cs typeface="Arial" pitchFamily="34" charset="-120"/>
              </a:rPr>
              <a:t>RELATED WORK</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What existing systems cover</a:t>
            </a:r>
            <a:endParaRPr lang="en-US" sz="3200" dirty="0"/>
          </a:p>
        </p:txBody>
      </p:sp>
      <p:sp>
        <p:nvSpPr>
          <p:cNvPr id="4" name="Shape 2"/>
          <p:cNvSpPr/>
          <p:nvPr/>
        </p:nvSpPr>
        <p:spPr>
          <a:xfrm>
            <a:off x="812800" y="1778000"/>
            <a:ext cx="10566400" cy="3195320"/>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788160"/>
          <a:ext cx="10556240" cy="3185160"/>
        </p:xfrm>
        <a:graphic>
          <a:graphicData uri="http://schemas.openxmlformats.org/drawingml/2006/table">
            <a:tbl>
              <a:tblPr/>
              <a:tblGrid>
                <a:gridCol w="2427935"/>
                <a:gridCol w="1161186"/>
                <a:gridCol w="1161186"/>
                <a:gridCol w="1161186"/>
                <a:gridCol w="1161186"/>
                <a:gridCol w="1161186"/>
                <a:gridCol w="1161186"/>
                <a:gridCol w="1161186"/>
              </a:tblGrid>
              <a:tr h="543560">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Work</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Workflow</a:t>
                      </a:r>
                      <a:endParaRPr lang="en-US" sz="1200" dirty="0">
                        <a:latin typeface="Arial" charset="0"/>
                        <a:ea typeface="Arial" charset="0"/>
                        <a:cs typeface="Arial"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Committee</a:t>
                      </a:r>
                      <a:endParaRPr lang="en-US" sz="1200" dirty="0">
                        <a:latin typeface="Arial" charset="0"/>
                        <a:ea typeface="Arial" charset="0"/>
                        <a:cs typeface="Arial"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Scheduling</a:t>
                      </a:r>
                      <a:endParaRPr lang="en-US" sz="1200" dirty="0">
                        <a:latin typeface="Arial" charset="0"/>
                        <a:ea typeface="Arial" charset="0"/>
                        <a:cs typeface="Arial"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Admin. reqs</a:t>
                      </a:r>
                      <a:endParaRPr lang="en-US" sz="1200" dirty="0">
                        <a:latin typeface="Arial" charset="0"/>
                        <a:ea typeface="Arial" charset="0"/>
                        <a:cs typeface="Arial"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Similarity</a:t>
                      </a:r>
                      <a:endParaRPr lang="en-US" sz="1200" dirty="0">
                        <a:latin typeface="Arial" charset="0"/>
                        <a:ea typeface="Arial" charset="0"/>
                        <a:cs typeface="Arial"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Audit</a:t>
                      </a:r>
                      <a:endParaRPr lang="en-US" sz="1200" dirty="0">
                        <a:latin typeface="Arial" charset="0"/>
                        <a:ea typeface="Arial" charset="0"/>
                        <a:cs typeface="Arial"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Arial" pitchFamily="34" charset="0"/>
                          <a:ea typeface="Arial" pitchFamily="34" charset="-122"/>
                          <a:cs typeface="Arial" pitchFamily="34" charset="-120"/>
                        </a:rPr>
                        <a:t>Per-thesis perms</a:t>
                      </a:r>
                      <a:endParaRPr lang="en-US" sz="1200" dirty="0">
                        <a:latin typeface="Arial" charset="0"/>
                        <a:ea typeface="Arial" charset="0"/>
                        <a:cs typeface="Arial"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30200">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Li et al., 2012</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Zhi, 2021</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Partial</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Shakerian et al., 2021</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Partial</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Silva-Peñafiel et al., 2021</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ThesisIT, 2022</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Hariyanto et al., 2025</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TUM Thesis Mgmt.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Partial</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Proposed system</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9BA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AB0"/>
                      </a:solidFill>
                      <a:prstDash val="solid"/>
                      <a:round/>
                      <a:headEnd type="none" w="med" len="med"/>
                      <a:tailEnd type="none" w="med" len="med"/>
                    </a:lnB>
                    <a:solidFill>
                      <a:srgbClr val="FCE9DC"/>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9BAB0"/>
                      </a:solidFill>
                      <a:prstDash val="solid"/>
                      <a:round/>
                      <a:headEnd type="none" w="med" len="med"/>
                      <a:tailEnd type="none" w="med" len="med"/>
                    </a:lnL>
                    <a:lnR w="12700" cap="flat" cmpd="sng" algn="ctr">
                      <a:solidFill>
                        <a:srgbClr val="C9BA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AB0"/>
                      </a:solidFill>
                      <a:prstDash val="solid"/>
                      <a:round/>
                      <a:headEnd type="none" w="med" len="med"/>
                      <a:tailEnd type="none" w="med" len="med"/>
                    </a:lnB>
                    <a:solidFill>
                      <a:srgbClr val="FCE9DC"/>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9BAB0"/>
                      </a:solidFill>
                      <a:prstDash val="solid"/>
                      <a:round/>
                      <a:headEnd type="none" w="med" len="med"/>
                      <a:tailEnd type="none" w="med" len="med"/>
                    </a:lnL>
                    <a:lnR w="12700" cap="flat" cmpd="sng" algn="ctr">
                      <a:solidFill>
                        <a:srgbClr val="C9BA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AB0"/>
                      </a:solidFill>
                      <a:prstDash val="solid"/>
                      <a:round/>
                      <a:headEnd type="none" w="med" len="med"/>
                      <a:tailEnd type="none" w="med" len="med"/>
                    </a:lnB>
                    <a:solidFill>
                      <a:srgbClr val="FCE9DC"/>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9BAB0"/>
                      </a:solidFill>
                      <a:prstDash val="solid"/>
                      <a:round/>
                      <a:headEnd type="none" w="med" len="med"/>
                      <a:tailEnd type="none" w="med" len="med"/>
                    </a:lnL>
                    <a:lnR w="12700" cap="flat" cmpd="sng" algn="ctr">
                      <a:solidFill>
                        <a:srgbClr val="C9BA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AB0"/>
                      </a:solidFill>
                      <a:prstDash val="solid"/>
                      <a:round/>
                      <a:headEnd type="none" w="med" len="med"/>
                      <a:tailEnd type="none" w="med" len="med"/>
                    </a:lnB>
                    <a:solidFill>
                      <a:srgbClr val="FCE9DC"/>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9BAB0"/>
                      </a:solidFill>
                      <a:prstDash val="solid"/>
                      <a:round/>
                      <a:headEnd type="none" w="med" len="med"/>
                      <a:tailEnd type="none" w="med" len="med"/>
                    </a:lnL>
                    <a:lnR w="12700" cap="flat" cmpd="sng" algn="ctr">
                      <a:solidFill>
                        <a:srgbClr val="C9BA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AB0"/>
                      </a:solidFill>
                      <a:prstDash val="solid"/>
                      <a:round/>
                      <a:headEnd type="none" w="med" len="med"/>
                      <a:tailEnd type="none" w="med" len="med"/>
                    </a:lnB>
                    <a:solidFill>
                      <a:srgbClr val="FCE9DC"/>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9BAB0"/>
                      </a:solidFill>
                      <a:prstDash val="solid"/>
                      <a:round/>
                      <a:headEnd type="none" w="med" len="med"/>
                      <a:tailEnd type="none" w="med" len="med"/>
                    </a:lnL>
                    <a:lnR w="12700" cap="flat" cmpd="sng" algn="ctr">
                      <a:solidFill>
                        <a:srgbClr val="C9BA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AB0"/>
                      </a:solidFill>
                      <a:prstDash val="solid"/>
                      <a:round/>
                      <a:headEnd type="none" w="med" len="med"/>
                      <a:tailEnd type="none" w="med" len="med"/>
                    </a:lnB>
                    <a:solidFill>
                      <a:srgbClr val="FCE9DC"/>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9BAB0"/>
                      </a:solidFill>
                      <a:prstDash val="solid"/>
                      <a:round/>
                      <a:headEnd type="none" w="med" len="med"/>
                      <a:tailEnd type="none" w="med" len="med"/>
                    </a:lnL>
                    <a:lnR w="12700" cap="flat" cmpd="sng" algn="ctr">
                      <a:solidFill>
                        <a:srgbClr val="C9BA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AB0"/>
                      </a:solidFill>
                      <a:prstDash val="solid"/>
                      <a:round/>
                      <a:headEnd type="none" w="med" len="med"/>
                      <a:tailEnd type="none" w="med" len="med"/>
                    </a:lnB>
                    <a:solidFill>
                      <a:srgbClr val="FCE9DC"/>
                    </a:solidFill>
                  </a:tcPr>
                </a:tc>
                <a:tc>
                  <a:txBody>
                    <a:bodyPr/>
                    <a:lstStyle/>
                    <a:p>
                      <a:pPr indent="0" marL="0">
                        <a:lnSpc>
                          <a:spcPts val="1680"/>
                        </a:lnSpc>
                        <a:buNone/>
                      </a:pPr>
                      <a:r>
                        <a:rPr lang="en-US" sz="1200" dirty="0">
                          <a:solidFill>
                            <a:srgbClr val="14213D"/>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3340" marR="53340" marT="53340" marB="53340" anchor="t">
                    <a:lnL w="12700" cap="flat" cmpd="sng" algn="ctr">
                      <a:solidFill>
                        <a:srgbClr val="C9BAB0"/>
                      </a:solidFill>
                      <a:prstDash val="solid"/>
                      <a:round/>
                      <a:headEnd type="none" w="med" len="med"/>
                      <a:tailEnd type="none" w="med" len="med"/>
                    </a:lnL>
                    <a:lnR w="12700" cap="flat" cmpd="sng" algn="ctr">
                      <a:solidFill>
                        <a:srgbClr val="C9BA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AB0"/>
                      </a:solidFill>
                      <a:prstDash val="solid"/>
                      <a:round/>
                      <a:headEnd type="none" w="med" len="med"/>
                      <a:tailEnd type="none" w="med" len="med"/>
                    </a:lnB>
                    <a:solidFill>
                      <a:srgbClr val="FCE9DC"/>
                    </a:solidFill>
                  </a:tcPr>
                </a:tc>
              </a:tr>
            </a:tbl>
          </a:graphicData>
        </a:graphic>
      </p:graphicFrame>
      <p:sp>
        <p:nvSpPr>
          <p:cNvPr id="6" name="Text 3"/>
          <p:cNvSpPr/>
          <p:nvPr/>
        </p:nvSpPr>
        <p:spPr>
          <a:xfrm>
            <a:off x="812800" y="52019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 means not reported in the cited source, not that the feature is impossible in that system.</a:t>
            </a:r>
            <a:endParaRPr lang="en-US" sz="1200" dirty="0"/>
          </a:p>
        </p:txBody>
      </p:sp>
      <p:sp>
        <p:nvSpPr>
          <p:cNvPr id="7" name="Text 4"/>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Thesis Management · Project Proposal</a:t>
            </a:r>
            <a:endParaRPr lang="en-US" sz="1200" dirty="0"/>
          </a:p>
        </p:txBody>
      </p:sp>
      <p:sp>
        <p:nvSpPr>
          <p:cNvPr id="8" name="Text 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060"/>
                </a:solidFill>
                <a:latin typeface="Arial" pitchFamily="34" charset="0"/>
                <a:ea typeface="Arial" pitchFamily="34" charset="-122"/>
                <a:cs typeface="Arial" pitchFamily="34" charset="-120"/>
              </a:rPr>
              <a:t>THE GAP</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2"/>
                </a:solidFill>
                <a:latin typeface="Georgia" pitchFamily="18" charset="0"/>
                <a:ea typeface="Georgia" pitchFamily="18" charset="-122"/>
                <a:cs typeface="Georgia" pitchFamily="18" charset="-120"/>
              </a:rPr>
              <a:t>Three things no reviewed system reports</a:t>
            </a:r>
            <a:endParaRPr lang="en-US" sz="3200" dirty="0"/>
          </a:p>
        </p:txBody>
      </p:sp>
      <p:sp>
        <p:nvSpPr>
          <p:cNvPr id="4" name="Shape 2"/>
          <p:cNvSpPr/>
          <p:nvPr/>
        </p:nvSpPr>
        <p:spPr>
          <a:xfrm>
            <a:off x="812800" y="1917700"/>
            <a:ext cx="3386614" cy="0"/>
          </a:xfrm>
          <a:prstGeom prst="line">
            <a:avLst/>
          </a:prstGeom>
          <a:noFill/>
          <a:ln w="25400">
            <a:solidFill>
              <a:srgbClr val="F0A060"/>
            </a:solidFill>
            <a:prstDash val="solid"/>
          </a:ln>
        </p:spPr>
      </p:sp>
      <p:sp>
        <p:nvSpPr>
          <p:cNvPr id="5" name="Text 3"/>
          <p:cNvSpPr/>
          <p:nvPr/>
        </p:nvSpPr>
        <p:spPr>
          <a:xfrm>
            <a:off x="812800" y="2108200"/>
            <a:ext cx="348821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Arial" pitchFamily="34" charset="0"/>
                <a:ea typeface="Arial" pitchFamily="34" charset="-122"/>
                <a:cs typeface="Arial" pitchFamily="34" charset="-120"/>
              </a:rPr>
              <a:t>Regulatory requirements</a:t>
            </a:r>
            <a:endParaRPr lang="en-US" sz="1800" dirty="0"/>
          </a:p>
        </p:txBody>
      </p:sp>
      <p:sp>
        <p:nvSpPr>
          <p:cNvPr id="6" name="Text 4"/>
          <p:cNvSpPr/>
          <p:nvPr/>
        </p:nvSpPr>
        <p:spPr>
          <a:xfrm>
            <a:off x="812800" y="2484121"/>
            <a:ext cx="348821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D"/>
                </a:solidFill>
                <a:latin typeface="Arial" pitchFamily="34" charset="0"/>
                <a:ea typeface="Arial" pitchFamily="34" charset="-122"/>
                <a:cs typeface="Arial" pitchFamily="34" charset="-120"/>
              </a:rPr>
              <a:t>Internships, community engagement and English proficiency, validated before the defense</a:t>
            </a:r>
            <a:endParaRPr lang="en-US" sz="1400" dirty="0"/>
          </a:p>
        </p:txBody>
      </p:sp>
      <p:sp>
        <p:nvSpPr>
          <p:cNvPr id="7" name="Shape 5"/>
          <p:cNvSpPr/>
          <p:nvPr/>
        </p:nvSpPr>
        <p:spPr>
          <a:xfrm>
            <a:off x="4402614" y="1917700"/>
            <a:ext cx="3386693" cy="0"/>
          </a:xfrm>
          <a:prstGeom prst="line">
            <a:avLst/>
          </a:prstGeom>
          <a:noFill/>
          <a:ln w="25400">
            <a:solidFill>
              <a:srgbClr val="F0A060"/>
            </a:solidFill>
            <a:prstDash val="solid"/>
          </a:ln>
        </p:spPr>
      </p:sp>
      <p:sp>
        <p:nvSpPr>
          <p:cNvPr id="8" name="Text 6"/>
          <p:cNvSpPr/>
          <p:nvPr/>
        </p:nvSpPr>
        <p:spPr>
          <a:xfrm>
            <a:off x="4402614" y="2108200"/>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Arial" pitchFamily="34" charset="0"/>
                <a:ea typeface="Arial" pitchFamily="34" charset="-122"/>
                <a:cs typeface="Arial" pitchFamily="34" charset="-120"/>
              </a:rPr>
              <a:t>Similarity records</a:t>
            </a:r>
            <a:endParaRPr lang="en-US" sz="1800" dirty="0"/>
          </a:p>
        </p:txBody>
      </p:sp>
      <p:sp>
        <p:nvSpPr>
          <p:cNvPr id="9" name="Text 7"/>
          <p:cNvSpPr/>
          <p:nvPr/>
        </p:nvSpPr>
        <p:spPr>
          <a:xfrm>
            <a:off x="4402614" y="2484121"/>
            <a:ext cx="3488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D"/>
                </a:solidFill>
                <a:latin typeface="Arial" pitchFamily="34" charset="0"/>
                <a:ea typeface="Arial" pitchFamily="34" charset="-122"/>
                <a:cs typeface="Arial" pitchFamily="34" charset="-120"/>
              </a:rPr>
              <a:t>Each plagiarism check stored with its result, as part of the thesis record</a:t>
            </a:r>
            <a:endParaRPr lang="en-US" sz="1400" dirty="0"/>
          </a:p>
        </p:txBody>
      </p:sp>
      <p:sp>
        <p:nvSpPr>
          <p:cNvPr id="10" name="Shape 8"/>
          <p:cNvSpPr/>
          <p:nvPr/>
        </p:nvSpPr>
        <p:spPr>
          <a:xfrm>
            <a:off x="7992507" y="1917700"/>
            <a:ext cx="3386693" cy="0"/>
          </a:xfrm>
          <a:prstGeom prst="line">
            <a:avLst/>
          </a:prstGeom>
          <a:noFill/>
          <a:ln w="25400">
            <a:solidFill>
              <a:srgbClr val="F0A060"/>
            </a:solidFill>
            <a:prstDash val="solid"/>
          </a:ln>
        </p:spPr>
      </p:sp>
      <p:sp>
        <p:nvSpPr>
          <p:cNvPr id="11" name="Text 9"/>
          <p:cNvSpPr/>
          <p:nvPr/>
        </p:nvSpPr>
        <p:spPr>
          <a:xfrm>
            <a:off x="7992507" y="2108200"/>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Arial" pitchFamily="34" charset="0"/>
                <a:ea typeface="Arial" pitchFamily="34" charset="-122"/>
                <a:cs typeface="Arial" pitchFamily="34" charset="-120"/>
              </a:rPr>
              <a:t>Auditable history</a:t>
            </a:r>
            <a:endParaRPr lang="en-US" sz="1800" dirty="0"/>
          </a:p>
        </p:txBody>
      </p:sp>
      <p:sp>
        <p:nvSpPr>
          <p:cNvPr id="12" name="Text 10"/>
          <p:cNvSpPr/>
          <p:nvPr/>
        </p:nvSpPr>
        <p:spPr>
          <a:xfrm>
            <a:off x="7992507" y="2484121"/>
            <a:ext cx="3488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BDD"/>
                </a:solidFill>
                <a:latin typeface="Arial" pitchFamily="34" charset="0"/>
                <a:ea typeface="Arial" pitchFamily="34" charset="-122"/>
                <a:cs typeface="Arial" pitchFamily="34" charset="-120"/>
              </a:rPr>
              <a:t>Every status change, with who made it and when</a:t>
            </a:r>
            <a:endParaRPr lang="en-US" sz="1400" dirty="0"/>
          </a:p>
        </p:txBody>
      </p:sp>
      <p:sp>
        <p:nvSpPr>
          <p:cNvPr id="13" name="Text 11"/>
          <p:cNvSpPr/>
          <p:nvPr/>
        </p:nvSpPr>
        <p:spPr>
          <a:xfrm>
            <a:off x="812800" y="3586479"/>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Arial" pitchFamily="34" charset="0"/>
                <a:ea typeface="Arial" pitchFamily="34" charset="-122"/>
                <a:cs typeface="Arial" pitchFamily="34" charset="-120"/>
              </a:rPr>
              <a:t>Our difference: these rules are enforced by the database, permissions are derived per thesis, and the platform builds on a schema already designed for the institution.</a:t>
            </a:r>
            <a:endParaRPr lang="en-US" sz="1500" dirty="0"/>
          </a:p>
        </p:txBody>
      </p:sp>
      <p:sp>
        <p:nvSpPr>
          <p:cNvPr id="14" name="Text 12"/>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BDD"/>
                </a:solidFill>
                <a:latin typeface="Arial" pitchFamily="34" charset="0"/>
                <a:ea typeface="Arial" pitchFamily="34" charset="-122"/>
                <a:cs typeface="Arial" pitchFamily="34" charset="-120"/>
              </a:rPr>
              <a:t>Thesis Management · Project Proposal</a:t>
            </a:r>
            <a:endParaRPr lang="en-US" sz="1200" dirty="0"/>
          </a:p>
        </p:txBody>
      </p:sp>
      <p:sp>
        <p:nvSpPr>
          <p:cNvPr id="15" name="Text 1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CBDD"/>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6"/>
                </a:solidFill>
                <a:latin typeface="Arial" pitchFamily="34" charset="0"/>
                <a:ea typeface="Arial" pitchFamily="34" charset="-122"/>
                <a:cs typeface="Arial" pitchFamily="34" charset="-120"/>
              </a:rPr>
              <a:t>METHODOLOGY</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Scrum in two-week sprints, data first</a:t>
            </a:r>
            <a:endParaRPr lang="en-US" sz="3200" dirty="0"/>
          </a:p>
        </p:txBody>
      </p:sp>
      <p:sp>
        <p:nvSpPr>
          <p:cNvPr id="4" name="Text 2"/>
          <p:cNvSpPr/>
          <p:nvPr/>
        </p:nvSpPr>
        <p:spPr>
          <a:xfrm>
            <a:off x="812800" y="1953264"/>
            <a:ext cx="1700768" cy="553720"/>
          </a:xfrm>
          <a:prstGeom prst="roundRect">
            <a:avLst>
              <a:gd name="adj" fmla="val 13761"/>
            </a:avLst>
          </a:prstGeom>
          <a:solidFill>
            <a:srgbClr val="FCE9DC"/>
          </a:solidFill>
          <a:ln/>
        </p:spPr>
        <p:txBody>
          <a:bodyPr wrap="square" lIns="53882" tIns="130082" rIns="53882" bIns="10468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Backlog</a:t>
            </a:r>
            <a:endParaRPr lang="en-US" sz="1400" dirty="0"/>
          </a:p>
        </p:txBody>
      </p:sp>
      <p:pic>
        <p:nvPicPr>
          <p:cNvPr id="5" name="Image 0" descr="arrow-right">    </p:cNvPr>
          <p:cNvPicPr>
            <a:picLocks noChangeAspect="1"/>
          </p:cNvPicPr>
          <p:nvPr/>
        </p:nvPicPr>
        <p:blipFill>
          <a:blip r:embed="rId1"/>
          <a:srcRect l="0" r="0" t="0" b="0"/>
          <a:stretch/>
        </p:blipFill>
        <p:spPr>
          <a:xfrm>
            <a:off x="2615168" y="2153921"/>
            <a:ext cx="304800" cy="152400"/>
          </a:xfrm>
          <a:prstGeom prst="rect">
            <a:avLst/>
          </a:prstGeom>
        </p:spPr>
      </p:pic>
      <p:sp>
        <p:nvSpPr>
          <p:cNvPr id="6" name="Text 3"/>
          <p:cNvSpPr/>
          <p:nvPr/>
        </p:nvSpPr>
        <p:spPr>
          <a:xfrm>
            <a:off x="3024743" y="1951354"/>
            <a:ext cx="1704658" cy="557530"/>
          </a:xfrm>
          <a:prstGeom prst="roundRect">
            <a:avLst>
              <a:gd name="adj" fmla="val 13098"/>
            </a:avLst>
          </a:prstGeom>
          <a:solidFill>
            <a:srgbClr val="FFFFFF"/>
          </a:solidFill>
          <a:ln w="6350">
            <a:solidFill>
              <a:srgbClr val="D9DEE6"/>
            </a:solidFill>
            <a:prstDash val="solid"/>
          </a:ln>
        </p:spPr>
        <p:txBody>
          <a:bodyPr wrap="square" lIns="56717" tIns="132917" rIns="56717" bIns="107517"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Planning</a:t>
            </a:r>
            <a:endParaRPr lang="en-US" sz="1400" dirty="0"/>
          </a:p>
        </p:txBody>
      </p:sp>
      <p:pic>
        <p:nvPicPr>
          <p:cNvPr id="7" name="Image 1" descr="arrow-right">    </p:cNvPr>
          <p:cNvPicPr>
            <a:picLocks noChangeAspect="1"/>
          </p:cNvPicPr>
          <p:nvPr/>
        </p:nvPicPr>
        <p:blipFill>
          <a:blip r:embed="rId2"/>
          <a:srcRect l="0" r="0" t="0" b="0"/>
          <a:stretch/>
        </p:blipFill>
        <p:spPr>
          <a:xfrm>
            <a:off x="4834176" y="2153921"/>
            <a:ext cx="304800" cy="152400"/>
          </a:xfrm>
          <a:prstGeom prst="rect">
            <a:avLst/>
          </a:prstGeom>
        </p:spPr>
      </p:pic>
      <p:sp>
        <p:nvSpPr>
          <p:cNvPr id="8" name="Text 4"/>
          <p:cNvSpPr/>
          <p:nvPr/>
        </p:nvSpPr>
        <p:spPr>
          <a:xfrm>
            <a:off x="5243751" y="1951354"/>
            <a:ext cx="1704578" cy="557530"/>
          </a:xfrm>
          <a:prstGeom prst="roundRect">
            <a:avLst>
              <a:gd name="adj" fmla="val 13098"/>
            </a:avLst>
          </a:prstGeom>
          <a:solidFill>
            <a:srgbClr val="FFFFFF"/>
          </a:solidFill>
          <a:ln w="6350">
            <a:solidFill>
              <a:srgbClr val="D9DEE6"/>
            </a:solidFill>
            <a:prstDash val="solid"/>
          </a:ln>
        </p:spPr>
        <p:txBody>
          <a:bodyPr wrap="square" lIns="56717" tIns="132917" rIns="56717" bIns="107517"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Build and test</a:t>
            </a:r>
            <a:endParaRPr lang="en-US" sz="1400" dirty="0"/>
          </a:p>
        </p:txBody>
      </p:sp>
      <p:pic>
        <p:nvPicPr>
          <p:cNvPr id="9" name="Image 2" descr="arrow-right">    </p:cNvPr>
          <p:cNvPicPr>
            <a:picLocks noChangeAspect="1"/>
          </p:cNvPicPr>
          <p:nvPr/>
        </p:nvPicPr>
        <p:blipFill>
          <a:blip r:embed="rId3"/>
          <a:srcRect l="0" r="0" t="0" b="0"/>
          <a:stretch/>
        </p:blipFill>
        <p:spPr>
          <a:xfrm>
            <a:off x="7053104" y="2153921"/>
            <a:ext cx="304800" cy="152400"/>
          </a:xfrm>
          <a:prstGeom prst="rect">
            <a:avLst/>
          </a:prstGeom>
        </p:spPr>
      </p:pic>
      <p:sp>
        <p:nvSpPr>
          <p:cNvPr id="10" name="Text 5"/>
          <p:cNvSpPr/>
          <p:nvPr/>
        </p:nvSpPr>
        <p:spPr>
          <a:xfrm>
            <a:off x="7462679" y="1951354"/>
            <a:ext cx="1704578" cy="557530"/>
          </a:xfrm>
          <a:prstGeom prst="roundRect">
            <a:avLst>
              <a:gd name="adj" fmla="val 13098"/>
            </a:avLst>
          </a:prstGeom>
          <a:solidFill>
            <a:srgbClr val="FFFFFF"/>
          </a:solidFill>
          <a:ln w="6350">
            <a:solidFill>
              <a:srgbClr val="D9DEE6"/>
            </a:solidFill>
            <a:prstDash val="solid"/>
          </a:ln>
        </p:spPr>
        <p:txBody>
          <a:bodyPr wrap="square" lIns="56717" tIns="132917" rIns="56717" bIns="107517"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Client review</a:t>
            </a:r>
            <a:endParaRPr lang="en-US" sz="1400" dirty="0"/>
          </a:p>
        </p:txBody>
      </p:sp>
      <p:pic>
        <p:nvPicPr>
          <p:cNvPr id="11" name="Image 3" descr="arrow-right">    </p:cNvPr>
          <p:cNvPicPr>
            <a:picLocks noChangeAspect="1"/>
          </p:cNvPicPr>
          <p:nvPr/>
        </p:nvPicPr>
        <p:blipFill>
          <a:blip r:embed="rId4"/>
          <a:srcRect l="0" r="0" t="0" b="0"/>
          <a:stretch/>
        </p:blipFill>
        <p:spPr>
          <a:xfrm>
            <a:off x="9272032" y="2153921"/>
            <a:ext cx="304800" cy="152400"/>
          </a:xfrm>
          <a:prstGeom prst="rect">
            <a:avLst/>
          </a:prstGeom>
        </p:spPr>
      </p:pic>
      <p:sp>
        <p:nvSpPr>
          <p:cNvPr id="12" name="Text 6"/>
          <p:cNvSpPr/>
          <p:nvPr/>
        </p:nvSpPr>
        <p:spPr>
          <a:xfrm>
            <a:off x="9678432" y="1828800"/>
            <a:ext cx="1700768" cy="802640"/>
          </a:xfrm>
          <a:prstGeom prst="roundRect">
            <a:avLst>
              <a:gd name="adj" fmla="val 9494"/>
            </a:avLst>
          </a:prstGeom>
          <a:solidFill>
            <a:srgbClr val="DCEBDD"/>
          </a:solidFill>
          <a:ln/>
        </p:spPr>
        <p:txBody>
          <a:bodyPr wrap="square" lIns="53882" tIns="130082" rIns="53882" bIns="104682" rtlCol="0" anchor="t">
            <a:normAutofit/>
          </a:bodyPr>
          <a:lstStyle/>
          <a:p>
            <a:pPr algn="ctr" indent="0" marL="0">
              <a:lnSpc>
                <a:spcPts val="1960"/>
              </a:lnSpc>
              <a:buNone/>
            </a:pPr>
            <a:r>
              <a:rPr lang="en-US" sz="1400" b="1" dirty="0">
                <a:solidFill>
                  <a:srgbClr val="14213D"/>
                </a:solidFill>
                <a:latin typeface="Arial" pitchFamily="34" charset="0"/>
                <a:ea typeface="Arial" pitchFamily="34" charset="-122"/>
                <a:cs typeface="Arial" pitchFamily="34" charset="-120"/>
              </a:rPr>
              <a:t>Deployed increment</a:t>
            </a:r>
            <a:endParaRPr lang="en-US" sz="1400" dirty="0"/>
          </a:p>
        </p:txBody>
      </p:sp>
      <p:sp>
        <p:nvSpPr>
          <p:cNvPr id="13" name="Shape 7"/>
          <p:cNvSpPr/>
          <p:nvPr/>
        </p:nvSpPr>
        <p:spPr>
          <a:xfrm>
            <a:off x="815975" y="2914017"/>
            <a:ext cx="3414157" cy="1097280"/>
          </a:xfrm>
          <a:prstGeom prst="roundRect">
            <a:avLst>
              <a:gd name="adj" fmla="val 6655"/>
            </a:avLst>
          </a:prstGeom>
          <a:solidFill>
            <a:srgbClr val="FFFFFF"/>
          </a:solidFill>
          <a:ln w="6350">
            <a:solidFill>
              <a:srgbClr val="D9DEE6"/>
            </a:solidFill>
            <a:prstDash val="solid"/>
          </a:ln>
        </p:spPr>
      </p:sp>
      <p:sp>
        <p:nvSpPr>
          <p:cNvPr id="14" name="Text 8"/>
          <p:cNvSpPr/>
          <p:nvPr/>
        </p:nvSpPr>
        <p:spPr>
          <a:xfrm>
            <a:off x="1021080" y="3093721"/>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Phase 0: discovery</a:t>
            </a:r>
            <a:endParaRPr lang="en-US" sz="1500" dirty="0"/>
          </a:p>
        </p:txBody>
      </p:sp>
      <p:sp>
        <p:nvSpPr>
          <p:cNvPr id="15" name="Text 9"/>
          <p:cNvSpPr/>
          <p:nvPr/>
        </p:nvSpPr>
        <p:spPr>
          <a:xfrm>
            <a:off x="1021080" y="3385821"/>
            <a:ext cx="309406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Validate the open rules with the client and record every decision in a log</a:t>
            </a:r>
            <a:endParaRPr lang="en-US" sz="1300" dirty="0"/>
          </a:p>
        </p:txBody>
      </p:sp>
      <p:sp>
        <p:nvSpPr>
          <p:cNvPr id="16" name="Shape 10"/>
          <p:cNvSpPr/>
          <p:nvPr/>
        </p:nvSpPr>
        <p:spPr>
          <a:xfrm>
            <a:off x="4388882" y="2914017"/>
            <a:ext cx="3414236" cy="1097280"/>
          </a:xfrm>
          <a:prstGeom prst="roundRect">
            <a:avLst>
              <a:gd name="adj" fmla="val 6655"/>
            </a:avLst>
          </a:prstGeom>
          <a:solidFill>
            <a:srgbClr val="FFFFFF"/>
          </a:solidFill>
          <a:ln w="6350">
            <a:solidFill>
              <a:srgbClr val="D9DEE6"/>
            </a:solidFill>
            <a:prstDash val="solid"/>
          </a:ln>
        </p:spPr>
      </p:sp>
      <p:sp>
        <p:nvSpPr>
          <p:cNvPr id="17" name="Text 11"/>
          <p:cNvSpPr/>
          <p:nvPr/>
        </p:nvSpPr>
        <p:spPr>
          <a:xfrm>
            <a:off x="4593987" y="3093721"/>
            <a:ext cx="309414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Data first</a:t>
            </a:r>
            <a:endParaRPr lang="en-US" sz="1500" dirty="0"/>
          </a:p>
        </p:txBody>
      </p:sp>
      <p:sp>
        <p:nvSpPr>
          <p:cNvPr id="18" name="Text 12"/>
          <p:cNvSpPr/>
          <p:nvPr/>
        </p:nvSpPr>
        <p:spPr>
          <a:xfrm>
            <a:off x="4593987" y="3385821"/>
            <a:ext cx="309414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Migration baseline from the inherited schema, then the corrections</a:t>
            </a:r>
            <a:endParaRPr lang="en-US" sz="1300" dirty="0"/>
          </a:p>
        </p:txBody>
      </p:sp>
      <p:sp>
        <p:nvSpPr>
          <p:cNvPr id="19" name="Shape 13"/>
          <p:cNvSpPr/>
          <p:nvPr/>
        </p:nvSpPr>
        <p:spPr>
          <a:xfrm>
            <a:off x="7961868" y="2914017"/>
            <a:ext cx="3414157" cy="1097280"/>
          </a:xfrm>
          <a:prstGeom prst="roundRect">
            <a:avLst>
              <a:gd name="adj" fmla="val 6655"/>
            </a:avLst>
          </a:prstGeom>
          <a:solidFill>
            <a:srgbClr val="FFFFFF"/>
          </a:solidFill>
          <a:ln w="6350">
            <a:solidFill>
              <a:srgbClr val="D9DEE6"/>
            </a:solidFill>
            <a:prstDash val="solid"/>
          </a:ln>
        </p:spPr>
      </p:sp>
      <p:sp>
        <p:nvSpPr>
          <p:cNvPr id="20" name="Text 14"/>
          <p:cNvSpPr/>
          <p:nvPr/>
        </p:nvSpPr>
        <p:spPr>
          <a:xfrm>
            <a:off x="8166974" y="3093721"/>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Arial" pitchFamily="34" charset="0"/>
                <a:ea typeface="Arial" pitchFamily="34" charset="-122"/>
                <a:cs typeface="Arial" pitchFamily="34" charset="-120"/>
              </a:rPr>
              <a:t>Definition of done</a:t>
            </a:r>
            <a:endParaRPr lang="en-US" sz="1500" dirty="0"/>
          </a:p>
        </p:txBody>
      </p:sp>
      <p:sp>
        <p:nvSpPr>
          <p:cNvPr id="21" name="Text 15"/>
          <p:cNvSpPr/>
          <p:nvPr/>
        </p:nvSpPr>
        <p:spPr>
          <a:xfrm>
            <a:off x="8166974" y="3385821"/>
            <a:ext cx="309406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Arial" pitchFamily="34" charset="0"/>
                <a:ea typeface="Arial" pitchFamily="34" charset="-122"/>
                <a:cs typeface="Arial" pitchFamily="34" charset="-120"/>
              </a:rPr>
              <a:t>Implemented, tested, documented in OpenAPI and shown in the review</a:t>
            </a:r>
            <a:endParaRPr lang="en-US" sz="1300" dirty="0"/>
          </a:p>
        </p:txBody>
      </p:sp>
      <p:sp>
        <p:nvSpPr>
          <p:cNvPr id="22" name="Text 16"/>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Thesis Management · Project Proposal</a:t>
            </a:r>
            <a:endParaRPr lang="en-US" sz="1200" dirty="0"/>
          </a:p>
        </p:txBody>
      </p:sp>
      <p:sp>
        <p:nvSpPr>
          <p:cNvPr id="23" name="Text 1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6"/>
                </a:solidFill>
                <a:latin typeface="Arial" pitchFamily="34" charset="0"/>
                <a:ea typeface="Arial" pitchFamily="34" charset="-122"/>
                <a:cs typeface="Arial" pitchFamily="34" charset="-120"/>
              </a:rPr>
              <a:t>PLAN</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Georgia" pitchFamily="18" charset="0"/>
                <a:ea typeface="Georgia" pitchFamily="18" charset="-122"/>
                <a:cs typeface="Georgia" pitchFamily="18" charset="-120"/>
              </a:rPr>
              <a:t>Seven increments, each delivered end to end</a:t>
            </a:r>
            <a:endParaRPr lang="en-US" sz="3200" dirty="0"/>
          </a:p>
        </p:txBody>
      </p:sp>
      <p:sp>
        <p:nvSpPr>
          <p:cNvPr id="4" name="Shape 2"/>
          <p:cNvSpPr/>
          <p:nvPr/>
        </p:nvSpPr>
        <p:spPr>
          <a:xfrm>
            <a:off x="812800" y="1778000"/>
            <a:ext cx="10566400" cy="2865120"/>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788160"/>
          <a:ext cx="10556240" cy="2854960"/>
        </p:xfrm>
        <a:graphic>
          <a:graphicData uri="http://schemas.openxmlformats.org/drawingml/2006/table">
            <a:tbl>
              <a:tblPr/>
              <a:tblGrid>
                <a:gridCol w="1266749"/>
                <a:gridCol w="9289491"/>
              </a:tblGrid>
              <a:tr h="356870">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Sprint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Arial" pitchFamily="34" charset="0"/>
                          <a:ea typeface="Arial" pitchFamily="34" charset="-122"/>
                          <a:cs typeface="Arial" pitchFamily="34" charset="-120"/>
                        </a:rPr>
                        <a:t>Increment</a:t>
                      </a:r>
                      <a:endParaRPr lang="en-US" sz="1300" dirty="0">
                        <a:latin typeface="Arial" charset="0"/>
                        <a:ea typeface="Arial" charset="0"/>
                        <a:cs typeface="Arial"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6870">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Client validation, decision log, repository and CI, migration baseline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Schema corrections; authentication, users and roles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Students, professors, periods; thesis registration; tutor assignment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Thesis status workflow and history; reviewer committee and observations</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Similarity checks and administrative requirements; pre-defense gate</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Rooms and defense scheduling with conflict detection; jury grading</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Arial" pitchFamily="34" charset="0"/>
                          <a:ea typeface="Arial" pitchFamily="34" charset="-122"/>
                          <a:cs typeface="Arial" pitchFamily="34" charset="-120"/>
                        </a:rPr>
                        <a:t>Analytical reports; hardening, testing and production deployment</a:t>
                      </a:r>
                      <a:endParaRPr lang="en-US" sz="1300" dirty="0">
                        <a:latin typeface="Arial" charset="0"/>
                        <a:ea typeface="Arial" charset="0"/>
                        <a:cs typeface="Arial"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8717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Arial" pitchFamily="34" charset="0"/>
                <a:ea typeface="Arial" pitchFamily="34" charset="-122"/>
                <a:cs typeface="Arial" pitchFamily="34" charset="-120"/>
              </a:rPr>
              <a:t>[Sprint dates to be aligned with the course calendar]</a:t>
            </a:r>
            <a:endParaRPr lang="en-US" sz="1200" dirty="0"/>
          </a:p>
        </p:txBody>
      </p:sp>
      <p:sp>
        <p:nvSpPr>
          <p:cNvPr id="7" name="Text 4"/>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Arial" pitchFamily="34" charset="0"/>
                <a:ea typeface="Arial" pitchFamily="34" charset="-122"/>
                <a:cs typeface="Arial" pitchFamily="34" charset="-120"/>
              </a:rPr>
              <a:t>Thesis Management · Project Proposal</a:t>
            </a:r>
            <a:endParaRPr lang="en-US" sz="1200" dirty="0"/>
          </a:p>
        </p:txBody>
      </p:sp>
      <p:sp>
        <p:nvSpPr>
          <p:cNvPr id="8" name="Text 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060"/>
                </a:solidFill>
                <a:latin typeface="Arial" pitchFamily="34" charset="0"/>
                <a:ea typeface="Arial" pitchFamily="34" charset="-122"/>
                <a:cs typeface="Arial" pitchFamily="34" charset="-120"/>
              </a:rPr>
              <a:t>NEXT STEPS</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2"/>
                </a:solidFill>
                <a:latin typeface="Georgia" pitchFamily="18" charset="0"/>
                <a:ea typeface="Georgia" pitchFamily="18" charset="-122"/>
                <a:cs typeface="Georgia" pitchFamily="18" charset="-120"/>
              </a:rPr>
              <a:t>From proposal to Sprint 0</a:t>
            </a:r>
            <a:endParaRPr lang="en-US" sz="3200" dirty="0"/>
          </a:p>
        </p:txBody>
      </p:sp>
      <p:sp>
        <p:nvSpPr>
          <p:cNvPr id="4" name="Shape 2"/>
          <p:cNvSpPr/>
          <p:nvPr/>
        </p:nvSpPr>
        <p:spPr>
          <a:xfrm>
            <a:off x="812800" y="2887979"/>
            <a:ext cx="3386614" cy="0"/>
          </a:xfrm>
          <a:prstGeom prst="line">
            <a:avLst/>
          </a:prstGeom>
          <a:noFill/>
          <a:ln w="25400">
            <a:solidFill>
              <a:srgbClr val="F0A060"/>
            </a:solidFill>
            <a:prstDash val="solid"/>
          </a:ln>
        </p:spPr>
      </p:sp>
      <p:sp>
        <p:nvSpPr>
          <p:cNvPr id="5" name="Text 3"/>
          <p:cNvSpPr/>
          <p:nvPr/>
        </p:nvSpPr>
        <p:spPr>
          <a:xfrm>
            <a:off x="812800" y="3078479"/>
            <a:ext cx="348821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A060"/>
                </a:solidFill>
                <a:latin typeface="Arial" pitchFamily="34" charset="0"/>
                <a:ea typeface="Arial" pitchFamily="34" charset="-122"/>
                <a:cs typeface="Arial" pitchFamily="34" charset="-120"/>
              </a:rPr>
              <a:t>1</a:t>
            </a:r>
            <a:endParaRPr lang="en-US" sz="2200" dirty="0"/>
          </a:p>
        </p:txBody>
      </p:sp>
      <p:sp>
        <p:nvSpPr>
          <p:cNvPr id="6" name="Text 4"/>
          <p:cNvSpPr/>
          <p:nvPr/>
        </p:nvSpPr>
        <p:spPr>
          <a:xfrm>
            <a:off x="812800" y="3545842"/>
            <a:ext cx="348821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Arial" pitchFamily="34" charset="0"/>
                <a:ea typeface="Arial" pitchFamily="34" charset="-122"/>
                <a:cs typeface="Arial" pitchFamily="34" charset="-120"/>
              </a:rPr>
              <a:t>Validate requirements, documents and the status flow with the client</a:t>
            </a:r>
            <a:endParaRPr lang="en-US" sz="1500" dirty="0"/>
          </a:p>
        </p:txBody>
      </p:sp>
      <p:sp>
        <p:nvSpPr>
          <p:cNvPr id="7" name="Shape 5"/>
          <p:cNvSpPr/>
          <p:nvPr/>
        </p:nvSpPr>
        <p:spPr>
          <a:xfrm>
            <a:off x="4402614" y="2887979"/>
            <a:ext cx="3386693" cy="0"/>
          </a:xfrm>
          <a:prstGeom prst="line">
            <a:avLst/>
          </a:prstGeom>
          <a:noFill/>
          <a:ln w="25400">
            <a:solidFill>
              <a:srgbClr val="F0A060"/>
            </a:solidFill>
            <a:prstDash val="solid"/>
          </a:ln>
        </p:spPr>
      </p:sp>
      <p:sp>
        <p:nvSpPr>
          <p:cNvPr id="8" name="Text 6"/>
          <p:cNvSpPr/>
          <p:nvPr/>
        </p:nvSpPr>
        <p:spPr>
          <a:xfrm>
            <a:off x="4402614" y="3078479"/>
            <a:ext cx="348829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A060"/>
                </a:solidFill>
                <a:latin typeface="Arial" pitchFamily="34" charset="0"/>
                <a:ea typeface="Arial" pitchFamily="34" charset="-122"/>
                <a:cs typeface="Arial" pitchFamily="34" charset="-120"/>
              </a:rPr>
              <a:t>2</a:t>
            </a:r>
            <a:endParaRPr lang="en-US" sz="2200" dirty="0"/>
          </a:p>
        </p:txBody>
      </p:sp>
      <p:sp>
        <p:nvSpPr>
          <p:cNvPr id="9" name="Text 7"/>
          <p:cNvSpPr/>
          <p:nvPr/>
        </p:nvSpPr>
        <p:spPr>
          <a:xfrm>
            <a:off x="4402614" y="3545842"/>
            <a:ext cx="3488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Arial" pitchFamily="34" charset="0"/>
                <a:ea typeface="Arial" pitchFamily="34" charset="-122"/>
                <a:cs typeface="Arial" pitchFamily="34" charset="-120"/>
              </a:rPr>
              <a:t>Close the data model and the decision log</a:t>
            </a:r>
            <a:endParaRPr lang="en-US" sz="1500" dirty="0"/>
          </a:p>
        </p:txBody>
      </p:sp>
      <p:sp>
        <p:nvSpPr>
          <p:cNvPr id="10" name="Shape 8"/>
          <p:cNvSpPr/>
          <p:nvPr/>
        </p:nvSpPr>
        <p:spPr>
          <a:xfrm>
            <a:off x="7992507" y="2887979"/>
            <a:ext cx="3386693" cy="0"/>
          </a:xfrm>
          <a:prstGeom prst="line">
            <a:avLst/>
          </a:prstGeom>
          <a:noFill/>
          <a:ln w="25400">
            <a:solidFill>
              <a:srgbClr val="F0A060"/>
            </a:solidFill>
            <a:prstDash val="solid"/>
          </a:ln>
        </p:spPr>
      </p:sp>
      <p:sp>
        <p:nvSpPr>
          <p:cNvPr id="11" name="Text 9"/>
          <p:cNvSpPr/>
          <p:nvPr/>
        </p:nvSpPr>
        <p:spPr>
          <a:xfrm>
            <a:off x="7992507" y="3078479"/>
            <a:ext cx="348829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A060"/>
                </a:solidFill>
                <a:latin typeface="Arial" pitchFamily="34" charset="0"/>
                <a:ea typeface="Arial" pitchFamily="34" charset="-122"/>
                <a:cs typeface="Arial" pitchFamily="34" charset="-120"/>
              </a:rPr>
              <a:t>3</a:t>
            </a:r>
            <a:endParaRPr lang="en-US" sz="2200" dirty="0"/>
          </a:p>
        </p:txBody>
      </p:sp>
      <p:sp>
        <p:nvSpPr>
          <p:cNvPr id="12" name="Text 10"/>
          <p:cNvSpPr/>
          <p:nvPr/>
        </p:nvSpPr>
        <p:spPr>
          <a:xfrm>
            <a:off x="7992507" y="3545842"/>
            <a:ext cx="348829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Arial" pitchFamily="34" charset="0"/>
                <a:ea typeface="Arial" pitchFamily="34" charset="-122"/>
                <a:cs typeface="Arial" pitchFamily="34" charset="-120"/>
              </a:rPr>
              <a:t>Start Sprint 0: repository, CI and the migration baseline</a:t>
            </a:r>
            <a:endParaRPr lang="en-US" sz="1500" dirty="0"/>
          </a:p>
        </p:txBody>
      </p:sp>
      <p:sp>
        <p:nvSpPr>
          <p:cNvPr id="13" name="Text 11"/>
          <p:cNvSpPr/>
          <p:nvPr/>
        </p:nvSpPr>
        <p:spPr>
          <a:xfrm>
            <a:off x="812800" y="5405121"/>
            <a:ext cx="10883392"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7F6F2"/>
                </a:solidFill>
                <a:latin typeface="Georgia" pitchFamily="18" charset="0"/>
                <a:ea typeface="Georgia" pitchFamily="18" charset="-122"/>
                <a:cs typeface="Georgia" pitchFamily="18" charset="-120"/>
              </a:rPr>
              <a:t>Questions?</a:t>
            </a:r>
            <a:endParaRPr lang="en-US" sz="3600" dirty="0"/>
          </a:p>
        </p:txBody>
      </p:sp>
    </p:spTree>
  </p:cSld>
  <p:clrMapOvr>
    <a:masterClrMapping/>
  </p:clrMapOvr>
</p:sld>
</file>

<file path=ppt/theme/theme1.xml><?xml version="1.0" encoding="utf-8"?>
<a:theme xmlns:a="http://schemas.openxmlformats.org/drawingml/2006/main" name="Thesis Management – Project Proposal">
  <a:themeElements>
    <a:clrScheme name="Thesis Management – Project Proposal">
      <a:dk1>
        <a:srgbClr val="14213D"/>
      </a:dk1>
      <a:lt1>
        <a:srgbClr val="F7F6F2"/>
      </a:lt1>
      <a:dk2>
        <a:srgbClr val="4D566A"/>
      </a:dk2>
      <a:lt2>
        <a:srgbClr val="E0E1E0"/>
      </a:lt2>
      <a:accent1>
        <a:srgbClr val="B04E16"/>
      </a:accent1>
      <a:accent2>
        <a:srgbClr val="F0A060"/>
      </a:accent2>
      <a:accent3>
        <a:srgbClr val="2F5D8A"/>
      </a:accent3>
      <a:accent4>
        <a:srgbClr val="4A5568"/>
      </a:accent4>
      <a:accent5>
        <a:srgbClr val="5B6472"/>
      </a:accent5>
      <a:accent6>
        <a:srgbClr val="BFCBDD"/>
      </a:accent6>
      <a:hlink>
        <a:srgbClr val="0563C1"/>
      </a:hlink>
      <a:folHlink>
        <a:srgbClr val="954F72"/>
      </a:folHlink>
    </a:clrScheme>
    <a:fontScheme name="Thesis Management – Project Propos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Management – Project Proposal</dc:title>
  <dc:subject/>
  <dc:creator/>
  <cp:lastModifiedBy/>
  <cp:revision>1</cp:revision>
  <dcterms:created xsi:type="dcterms:W3CDTF">2026-10-15T16:10:50Z</dcterms:created>
  <dcterms:modified xsi:type="dcterms:W3CDTF">2026-10-15T16:10:50Z</dcterms:modified>
</cp:coreProperties>
</file>